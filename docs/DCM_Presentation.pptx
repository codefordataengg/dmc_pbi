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4A58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9C4CC"/>
                </a:solidFill>
                <a:latin typeface="DejaVu Sans Mono"/>
              </a:rPr>
              <a:t>SNOWFLAKE DCM · PROOF OF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E3B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DejaVu Sans"/>
              </a:rPr>
              <a:t>The database that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DejaVu Sans"/>
              </a:rPr>
              <a:t>couldn't see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703320"/>
            <a:ext cx="685800" cy="3657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4CED5"/>
                </a:solidFill>
                <a:latin typeface="DejaVu Sans"/>
              </a:rPr>
              <a:t>Our repo could always </a:t>
            </a:r>
            <a:r>
              <a:rPr sz="1800" b="1">
                <a:solidFill>
                  <a:srgbClr val="FFFFFF"/>
                </a:solidFill>
                <a:latin typeface="DejaVu Sans"/>
              </a:rPr>
              <a:t>build</a:t>
            </a:r>
            <a:r>
              <a:rPr sz="1800" b="0">
                <a:solidFill>
                  <a:srgbClr val="C4CED5"/>
                </a:solidFill>
                <a:latin typeface="DejaVu Sans"/>
              </a:rPr>
              <a:t> the database.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4CED5"/>
                </a:solidFill>
                <a:latin typeface="DejaVu Sans"/>
              </a:rPr>
              <a:t>It could never prove the database still </a:t>
            </a:r>
            <a:r>
              <a:rPr sz="1800" b="1">
                <a:solidFill>
                  <a:srgbClr val="FFFFFF"/>
                </a:solidFill>
                <a:latin typeface="DejaVu Sans"/>
              </a:rPr>
              <a:t>matched</a:t>
            </a:r>
            <a:r>
              <a:rPr sz="1800" b="0">
                <a:solidFill>
                  <a:srgbClr val="C4CED5"/>
                </a:solidFill>
                <a:latin typeface="DejaVu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53212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3B173"/>
                </a:solidFill>
                <a:latin typeface="DejaVu Sans Mono"/>
              </a:rPr>
              <a:t>8</a:t>
            </a:r>
            <a:r>
              <a:rPr sz="1300" b="0">
                <a:solidFill>
                  <a:srgbClr val="94A3AD"/>
                </a:solidFill>
                <a:latin typeface="DejaVu Sans Mono"/>
              </a:rPr>
              <a:t> tables   ·   </a:t>
            </a:r>
            <a:r>
              <a:rPr sz="1300" b="1">
                <a:solidFill>
                  <a:srgbClr val="E3B173"/>
                </a:solidFill>
                <a:latin typeface="DejaVu Sans Mono"/>
              </a:rPr>
              <a:t>53</a:t>
            </a:r>
            <a:r>
              <a:rPr sz="1300" b="0">
                <a:solidFill>
                  <a:srgbClr val="94A3AD"/>
                </a:solidFill>
                <a:latin typeface="DejaVu Sans Mono"/>
              </a:rPr>
              <a:t> columns   ·   </a:t>
            </a:r>
            <a:r>
              <a:rPr sz="1300" b="1">
                <a:solidFill>
                  <a:srgbClr val="E3B173"/>
                </a:solidFill>
                <a:latin typeface="DejaVu Sans Mono"/>
              </a:rPr>
              <a:t>13</a:t>
            </a:r>
            <a:r>
              <a:rPr sz="1300" b="0">
                <a:solidFill>
                  <a:srgbClr val="94A3AD"/>
                </a:solidFill>
                <a:latin typeface="DejaVu Sans Mono"/>
              </a:rPr>
              <a:t> findings   ·   personal account · 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7C8B95"/>
                </a:solidFill>
                <a:latin typeface="DejaVu Sans Mono"/>
              </a:rPr>
              <a:t>SCHEMA DRIFT, CAUGHT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C4CED5"/>
                </a:solidFill>
                <a:latin typeface="DejaVu Sans Mono"/>
              </a:rPr>
              <a:t>01</a:t>
            </a:r>
            <a:r>
              <a:rPr sz="950" b="0">
                <a:solidFill>
                  <a:srgbClr val="7C8B95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Our pipelines cannot </a:t>
            </a:r>
            <a:r>
              <a:rPr sz="3300" b="1">
                <a:solidFill>
                  <a:srgbClr val="B26B12"/>
                </a:solidFill>
                <a:latin typeface="DejaVu Sans"/>
              </a:rPr>
              <a:t>see</a:t>
            </a:r>
            <a:r>
              <a:rPr sz="3300" b="1">
                <a:solidFill>
                  <a:srgbClr val="25313A"/>
                </a:solidFill>
                <a:latin typeface="DejaVu Sans"/>
              </a:rPr>
              <a:t> the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313A"/>
                </a:solidFill>
                <a:latin typeface="DejaVu Sans"/>
              </a:rPr>
              <a:t>70 </a:t>
            </a:r>
            <a:r>
              <a:rPr sz="1350" b="0">
                <a:solidFill>
                  <a:srgbClr val="36454F"/>
                </a:solidFill>
                <a:latin typeface="DejaVu Sans Mono"/>
              </a:rPr>
              <a:t>CREATE TABLE IF NOT EXISTS</a:t>
            </a:r>
            <a:r>
              <a:rPr sz="1500" b="0">
                <a:solidFill>
                  <a:srgbClr val="6C7B88"/>
                </a:solidFill>
                <a:latin typeface="DejaVu Sans"/>
              </a:rPr>
              <a:t> statements across 8 pipeline files. Against a table that already exists, that statement does nothing — and cannot look inside.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246120"/>
            <a:ext cx="2880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392424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1 · created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3721608"/>
            <a:ext cx="2478024" cy="12801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84962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C7B88"/>
                </a:solidFill>
                <a:latin typeface="DejaVu Sans Mono"/>
              </a:rPr>
              <a:t>ID    VARCHAR(36)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410565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C7B88"/>
                </a:solidFill>
                <a:latin typeface="DejaVu Sans Mono"/>
              </a:rPr>
              <a:t>NAME  VARCHAR(200)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246120"/>
            <a:ext cx="2880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392424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2 · altered by hand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4568" y="3721608"/>
            <a:ext cx="2478024" cy="12801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84962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C7B88"/>
                </a:solidFill>
                <a:latin typeface="DejaVu Sans Mono"/>
              </a:rPr>
              <a:t>ID    VARCHAR(36)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10565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C7B88"/>
                </a:solidFill>
                <a:latin typeface="DejaVu Sans Mono"/>
              </a:rPr>
              <a:t>NAME  VARCHAR(200)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36168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26B12"/>
                </a:solidFill>
                <a:latin typeface="DejaVu Sans Mono"/>
              </a:rPr>
              <a:t>SALARY VARCHAR(100)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80" y="3246120"/>
            <a:ext cx="2880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392424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3 · re-run DDL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7848" y="3721608"/>
            <a:ext cx="2478024" cy="12801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84962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B6650"/>
                </a:solidFill>
                <a:latin typeface="DejaVu Sans Mono"/>
              </a:rPr>
              <a:t>"already exists,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410565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B6650"/>
                </a:solidFill>
                <a:latin typeface="DejaVu Sans Mono"/>
              </a:rPr>
              <a:t> statement succeeded"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436168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26B12"/>
                </a:solidFill>
                <a:latin typeface="DejaVu Sans Mono"/>
              </a:rPr>
              <a:t>SALARY still there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4091939"/>
            <a:ext cx="502920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23759" y="4091939"/>
            <a:ext cx="502921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5166360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Snowflake is honest — it says it did nothing. The defect is that </a:t>
            </a:r>
            <a:r>
              <a:rPr sz="1300" b="1">
                <a:solidFill>
                  <a:srgbClr val="25313A"/>
                </a:solidFill>
                <a:latin typeface="DejaVu Sans"/>
              </a:rPr>
              <a:t>“did nothing” counts as success</a:t>
            </a:r>
            <a:r>
              <a:rPr sz="1300" b="0">
                <a:solidFill>
                  <a:srgbClr val="6C7B88"/>
                </a:solidFill>
                <a:latin typeface="DejaVu Sans"/>
              </a:rPr>
              <a:t>, and nothing compares the table to the declaration. It stays invisible because it is harmless.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THE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02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TWO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Only one of these was ever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C7B88"/>
                </a:solidFill>
                <a:latin typeface="DejaVu Sans Mono"/>
              </a:rPr>
              <a:t>“repo” = the Matillion pipeline repo that holds the 70 DDL statements.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834640"/>
            <a:ext cx="10058400" cy="50292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5351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DejaVu Sans Mono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95351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DejaVu Sans Mono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95351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DejaVu Sans Mono"/>
              </a:rPr>
              <a:t>WITH DCM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893515"/>
            <a:ext cx="10058400" cy="10972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3864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5313A"/>
                </a:solidFill>
                <a:latin typeface="DejaVu Sans"/>
              </a:rPr>
              <a:t>The repo can build the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8386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B6650"/>
                </a:solidFill>
                <a:latin typeface="DejaVu Sans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48386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B6650"/>
                </a:solidFill>
                <a:latin typeface="DejaVu Sans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904488"/>
            <a:ext cx="10058400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460443"/>
            <a:ext cx="10058400" cy="10972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5079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5313A"/>
                </a:solidFill>
                <a:latin typeface="DejaVu Sans"/>
              </a:rPr>
              <a:t>The database still matches the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0507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C3B2E"/>
                </a:solidFill>
                <a:latin typeface="DejaVu Sans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0507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B6650"/>
                </a:solidFill>
                <a:latin typeface="DejaVu Sans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Two guarantees — only the first was ever true, and nothing could tell you the difference. Why we went looking: a dashboard dimension sat frozen for </a:t>
            </a:r>
            <a:r>
              <a:rPr sz="1350" b="1">
                <a:solidFill>
                  <a:srgbClr val="25313A"/>
                </a:solidFill>
                <a:latin typeface="DejaVu Sans"/>
              </a:rPr>
              <a:t>seven months</a:t>
            </a:r>
            <a:r>
              <a:rPr sz="1350" b="0">
                <a:solidFill>
                  <a:srgbClr val="6C7B88"/>
                </a:solidFill>
                <a:latin typeface="DejaVu Sans"/>
              </a:rPr>
              <a:t>. A different defect — a trailing comma an alert-then-succeed pattern hid — but the </a:t>
            </a:r>
            <a:r>
              <a:rPr sz="1350" b="1">
                <a:solidFill>
                  <a:srgbClr val="B26B12"/>
                </a:solidFill>
                <a:latin typeface="DejaVu Sans"/>
              </a:rPr>
              <a:t>same shape</a:t>
            </a:r>
            <a:r>
              <a:rPr sz="1350" b="0">
                <a:solidFill>
                  <a:srgbClr val="6C7B88"/>
                </a:solidFill>
                <a:latin typeface="DejaVu Sans"/>
              </a:rPr>
              <a:t>: something that looked like a check and never checked.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TWO GUARANTEES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03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WHAT DCM PROJECTS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Declare the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Snowflake finds the </a:t>
            </a:r>
            <a:r>
              <a:rPr sz="3300" b="1">
                <a:solidFill>
                  <a:srgbClr val="B26B12"/>
                </a:solidFill>
                <a:latin typeface="DejaVu Sans"/>
              </a:rPr>
              <a:t>difference</a:t>
            </a:r>
            <a:r>
              <a:rPr sz="3300" b="1">
                <a:solidFill>
                  <a:srgbClr val="25313A"/>
                </a:solidFill>
                <a:latin typeface="DejaVu San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200400"/>
            <a:ext cx="1188720" cy="384048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6454F"/>
                </a:solidFill>
                <a:latin typeface="DejaVu Sans Mono"/>
              </a:rPr>
              <a:t>DEFINE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2644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a description of what should be true — not an instruction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767328"/>
            <a:ext cx="1188720" cy="384048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587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6454F"/>
                </a:solidFill>
                <a:latin typeface="DejaVu Sans Mono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83133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a dry run. changes nothing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334256"/>
            <a:ext cx="1188720" cy="384048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42569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6454F"/>
                </a:solidFill>
                <a:latin typeface="DejaVu Sans Mono"/>
              </a:rP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39826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applies the changeset. a person's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8B3"/>
                </a:solidFill>
                <a:latin typeface="DejaVu Sans"/>
              </a:rPr>
              <a:t>Native to Snowflake · no external state file · GA since Aug 2026 · broad object coverage — </a:t>
            </a:r>
            <a:r>
              <a:rPr sz="1100" b="0">
                <a:solidFill>
                  <a:srgbClr val="9AA8B3"/>
                </a:solidFill>
                <a:latin typeface="DejaVu Sans Mono"/>
              </a:rPr>
              <a:t>TABLE · VIEW · TASK · ROLE</a:t>
            </a:r>
            <a:r>
              <a:rPr sz="1200" b="0">
                <a:solidFill>
                  <a:srgbClr val="9AA8B3"/>
                </a:solidFill>
                <a:latin typeface="DejaVu Sans"/>
              </a:rPr>
              <a:t> and more.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3063240"/>
            <a:ext cx="4510735" cy="276834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063240"/>
            <a:ext cx="41148" cy="276834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209544"/>
            <a:ext cx="4099255" cy="2494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DEFINE TABLE</a:t>
            </a:r>
            <a:r>
              <a:rPr sz="1250" b="0">
                <a:solidFill>
                  <a:srgbClr val="36454F"/>
                </a:solidFill>
                <a:latin typeface="DejaVu Sans Mono"/>
              </a:rPr>
              <a:t> DEVELOP.PRE.DIM_PBI_CAPACITIES (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    ID              VARCHAR(36)  </a:t>
            </a:r>
            <a:r>
              <a:rPr sz="1250" b="0">
                <a:solidFill>
                  <a:srgbClr val="6C7B88"/>
                </a:solidFill>
                <a:latin typeface="DejaVu Sans Mono"/>
              </a:rPr>
              <a:t>NOT NULL</a:t>
            </a:r>
            <a:r>
              <a:rPr sz="1250" b="0">
                <a:solidFill>
                  <a:srgbClr val="36454F"/>
                </a:solidFill>
                <a:latin typeface="DejaVu Sans Mono"/>
              </a:rPr>
              <a:t>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    NAME            VARCHAR(500),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    SKU             VARCHAR(50),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    IS_CURRENT_FLAG NUMBER(1,0)  </a:t>
            </a:r>
            <a:r>
              <a:rPr sz="1250" b="0">
                <a:solidFill>
                  <a:srgbClr val="6C7B88"/>
                </a:solidFill>
                <a:latin typeface="DejaVu Sans Mono"/>
              </a:rPr>
              <a:t>DEFAULT 1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);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6C7B88"/>
                </a:solidFill>
                <a:latin typeface="DejaVu Sans Mono"/>
              </a:rPr>
              <a:t>-- remove this block, and the next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B26B12"/>
                </a:solidFill>
                <a:latin typeface="DejaVu Sans Mono"/>
              </a:rPr>
              <a:t>-- deploy drops the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WHAT DCM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04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The DDL stops living inside the ETL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560320"/>
            <a:ext cx="49071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4358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8B3"/>
                </a:solidFill>
                <a:latin typeface="DejaVu Sans Mono"/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3419856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7048" y="3337560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DDL embedded in orchestration — 70 statements, 8 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803904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3721608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runs as a side effect of a data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187952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27048" y="4105656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no review · no diff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4572000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4489704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C3B2E"/>
                </a:solidFill>
                <a:latin typeface="DejaVu Sans"/>
              </a:rPr>
              <a:t>drift is invisible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560320"/>
            <a:ext cx="49071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447" y="2560320"/>
            <a:ext cx="4907127" cy="38100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8767" y="2788920"/>
            <a:ext cx="43584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26B12"/>
                </a:solidFill>
                <a:latin typeface="DejaVu Sans Mono"/>
              </a:rPr>
              <a:t>AFTER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8767" y="3419856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1375" y="3337560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DDL in git, reviewed like application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98767" y="3803904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91375" y="3721608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the plan shows impact before it lands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98767" y="4187952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1375" y="4105656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one command rebuilds an environment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98767" y="4572000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1375" y="4489704"/>
            <a:ext cx="4065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B6650"/>
                </a:solidFill>
                <a:latin typeface="DejaVu Sans"/>
              </a:rPr>
              <a:t>drift becomes detectable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57800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36454F"/>
                </a:solidFill>
                <a:latin typeface="DejaVu Sans"/>
              </a:rPr>
              <a:t>The database becomes a </a:t>
            </a:r>
            <a:r>
              <a:rPr sz="1800" b="1">
                <a:solidFill>
                  <a:srgbClr val="B26B12"/>
                </a:solidFill>
                <a:latin typeface="DejaVu Sans"/>
              </a:rPr>
              <a:t>build output</a:t>
            </a:r>
            <a:r>
              <a:rPr sz="1800" b="0">
                <a:solidFill>
                  <a:srgbClr val="36454F"/>
                </a:solidFill>
                <a:latin typeface="DejaVu Sans"/>
              </a:rPr>
              <a:t> — not a place things quietly accumulate.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INFRASTRUCTURE AS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05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The layout is </a:t>
            </a:r>
            <a:r>
              <a:rPr sz="3300" b="1">
                <a:solidFill>
                  <a:srgbClr val="B26B12"/>
                </a:solidFill>
                <a:latin typeface="DejaVu Sans"/>
              </a:rPr>
              <a:t>fixed</a:t>
            </a:r>
            <a:r>
              <a:rPr sz="3300" b="1">
                <a:solidFill>
                  <a:srgbClr val="25313A"/>
                </a:solidFill>
                <a:latin typeface="DejaVu Sans"/>
              </a:rPr>
              <a:t>, not a convention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514600"/>
            <a:ext cx="5120640" cy="170789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514600"/>
            <a:ext cx="41148" cy="17078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60904"/>
            <a:ext cx="4709159" cy="143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manifest.yml</a:t>
            </a:r>
            <a:r>
              <a:rPr sz="1300" b="0">
                <a:solidFill>
                  <a:srgbClr val="6C7B88"/>
                </a:solidFill>
                <a:latin typeface="DejaVu Sans Mono"/>
              </a:rPr>
              <a:t>        which account · what varies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sources/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  definitions/</a:t>
            </a:r>
            <a:r>
              <a:rPr sz="1300" b="1">
                <a:solidFill>
                  <a:srgbClr val="B26B12"/>
                </a:solidFill>
                <a:latin typeface="DejaVu Sans Mono"/>
              </a:rPr>
              <a:t>      every object lives here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36454F"/>
                </a:solidFill>
                <a:latin typeface="DejaVu Sans Mono"/>
              </a:rPr>
              <a:t>  macros/</a:t>
            </a:r>
            <a:r>
              <a:rPr sz="1300" b="0">
                <a:solidFill>
                  <a:srgbClr val="6C7B88"/>
                </a:solidFill>
                <a:latin typeface="DejaVu Sans Mono"/>
              </a:rPr>
              <a:t>           optional Jinja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36454F"/>
                </a:solidFill>
                <a:latin typeface="DejaVu Sans Mono"/>
              </a:rPr>
              <a:t>out/</a:t>
            </a:r>
            <a:r>
              <a:rPr sz="1300" b="0">
                <a:solidFill>
                  <a:srgbClr val="6C7B88"/>
                </a:solidFill>
                <a:latin typeface="DejaVu Sans Mono"/>
              </a:rPr>
              <a:t>               generated 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6454F"/>
                </a:solidFill>
                <a:latin typeface="DejaVu Sans Mono"/>
              </a:rPr>
              <a:t>sources/definitions/</a:t>
            </a:r>
            <a:r>
              <a:rPr sz="1300" b="0">
                <a:solidFill>
                  <a:srgbClr val="6C7B88"/>
                </a:solidFill>
                <a:latin typeface="DejaVu Sans"/>
              </a:rPr>
              <a:t> is required — files anywhere else are </a:t>
            </a:r>
            <a:r>
              <a:rPr sz="1300" b="1">
                <a:solidFill>
                  <a:srgbClr val="25313A"/>
                </a:solidFill>
                <a:latin typeface="DejaVu Sans"/>
              </a:rPr>
              <a:t>not read</a:t>
            </a:r>
            <a:r>
              <a:rPr sz="1300" b="0">
                <a:solidFill>
                  <a:srgbClr val="6C7B88"/>
                </a:solidFill>
                <a:latin typeface="DejaVu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468880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A8B3"/>
                </a:solidFill>
                <a:latin typeface="DejaVu Sans Mono"/>
              </a:rPr>
              <a:t>THE MANIFEST — WHERE, AND WHAT VARIES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59" y="2788920"/>
            <a:ext cx="4693615" cy="244449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59" y="2788920"/>
            <a:ext cx="41148" cy="24444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935224"/>
            <a:ext cx="4282135" cy="2170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targets: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  DCM_DEV: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    account_identifier: ORG-ACCOUNT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    project_name: …PBI_CAPACITIES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templating: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  configurations: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    DEV:  { env_suffix: "" }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    PROD: { env_suffix: </a:t>
            </a:r>
            <a:r>
              <a:rPr sz="1200" b="1">
                <a:solidFill>
                  <a:srgbClr val="B26B12"/>
                </a:solidFill>
                <a:latin typeface="DejaVu Sans Mono"/>
              </a:rPr>
              <a:t>"_PROD"</a:t>
            </a:r>
            <a:r>
              <a:rPr sz="1200" b="0">
                <a:solidFill>
                  <a:srgbClr val="36454F"/>
                </a:solidFill>
                <a:latin typeface="DejaVu Sans Mono"/>
              </a:rPr>
              <a:t>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5074920"/>
            <a:ext cx="4693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Promotion is pointing at a different target. </a:t>
            </a:r>
            <a:r>
              <a:rPr sz="1300" b="1">
                <a:solidFill>
                  <a:srgbClr val="25313A"/>
                </a:solidFill>
                <a:latin typeface="DejaVu Sans"/>
              </a:rPr>
              <a:t>You copy nothing.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PROJECT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06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How it fits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468880"/>
            <a:ext cx="1737360" cy="868680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10612"/>
            <a:ext cx="1737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DejaVu Sans Mono"/>
              </a:rPr>
              <a:t>GitHub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9C4CC"/>
                </a:solidFill>
                <a:latin typeface="DejaVu Sans Mono"/>
              </a:rPr>
              <a:t>authoritative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46888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610612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GIT REPOSITORY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C7B88"/>
                </a:solidFill>
                <a:latin typeface="DejaVu Sans Mono"/>
              </a:rPr>
              <a:t>account clone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46888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2610612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DCM PROJECT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C7B88"/>
                </a:solidFill>
                <a:latin typeface="DejaVu Sans Mono"/>
              </a:rPr>
              <a:t>history ·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468880"/>
            <a:ext cx="2286000" cy="868680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610612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DejaVu Sans Mono"/>
              </a:rPr>
              <a:t>PROD database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9C4CC"/>
                </a:solidFill>
                <a:latin typeface="DejaVu Sans Mono"/>
              </a:rPr>
              <a:t>…_PROD · from git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898648"/>
            <a:ext cx="6217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252374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C7B88"/>
                </a:solidFill>
                <a:latin typeface="DejaVu Sans Mono"/>
              </a:rPr>
              <a:t>FETCH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0" y="2898648"/>
            <a:ext cx="57607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26680" y="2761488"/>
            <a:ext cx="66751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89520" y="23774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C7B88"/>
                </a:solidFill>
                <a:latin typeface="DejaVu Sans Mono"/>
              </a:rPr>
              <a:t>DEPLOY · from git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26680" y="3054096"/>
            <a:ext cx="667512" cy="0"/>
          </a:xfrm>
          <a:prstGeom prst="bentConnector3">
            <a:avLst/>
          </a:prstGeom>
          <a:ln w="17780">
            <a:prstDash val="dash"/>
            <a:solidFill>
              <a:srgbClr val="B26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55080" y="31272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B26B12"/>
                </a:solidFill>
                <a:latin typeface="DejaVu Sans Mono"/>
              </a:rPr>
              <a:t>PLAN · reads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4343400"/>
            <a:ext cx="1828800" cy="822960"/>
          </a:xfrm>
          <a:prstGeom prst="rect">
            <a:avLst/>
          </a:prstGeom>
          <a:solidFill>
            <a:srgbClr val="F6E9D6"/>
          </a:solidFill>
          <a:ln w="12700">
            <a:solidFill>
              <a:srgbClr val="E3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462272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8A5210"/>
                </a:solidFill>
                <a:latin typeface="DejaVu Sans Mono"/>
              </a:rPr>
              <a:t>Nightly task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5210"/>
                </a:solidFill>
                <a:latin typeface="DejaVu Sans Mono"/>
              </a:rPr>
              <a:t>05:00 · PLAN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434340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4462272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Drift log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C7B88"/>
                </a:solidFill>
                <a:latin typeface="DejaVu Sans Mono"/>
              </a:rPr>
              <a:t>durable record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343400"/>
            <a:ext cx="1280160" cy="822960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4462272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DejaVu Sans Mono"/>
              </a:rPr>
              <a:t>Alert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9C4CC"/>
                </a:solidFill>
                <a:latin typeface="DejaVu Sans Mono"/>
              </a:rPr>
              <a:t>if not CLEAN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12280" y="3337560"/>
            <a:ext cx="0" cy="98755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36850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C7B88"/>
                </a:solidFill>
                <a:latin typeface="DejaVu Sans Mono"/>
              </a:rPr>
              <a:t>FETCH → PLAN vs git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26680" y="4754880"/>
            <a:ext cx="25603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55480" y="4754880"/>
            <a:ext cx="210312" cy="0"/>
          </a:xfrm>
          <a:prstGeom prst="bentConnector3">
            <a:avLst/>
          </a:prstGeom>
          <a:ln w="17780">
            <a:solidFill>
              <a:srgbClr val="B26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0120" y="5440680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Dev deploys from the workspace (next slide); </a:t>
            </a:r>
            <a:r>
              <a:rPr sz="1300" b="1">
                <a:solidFill>
                  <a:srgbClr val="25313A"/>
                </a:solidFill>
                <a:latin typeface="DejaVu Sans"/>
              </a:rPr>
              <a:t>prod is deployed from git</a:t>
            </a:r>
            <a:r>
              <a:rPr sz="1300" b="0">
                <a:solidFill>
                  <a:srgbClr val="6C7B88"/>
                </a:solidFill>
                <a:latin typeface="DejaVu Sans"/>
              </a:rPr>
              <a:t>, and the nightly check watches prod. PLAN is automated; DEPLOY is a human decision — it drops columns to revert.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07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THE DISTINCTION PEOPLE MISS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2468880"/>
            <a:ext cx="2194560" cy="822960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2587752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DejaVu Sans Mono"/>
              </a:rPr>
              <a:t>GitHub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9C4CC"/>
                </a:solidFill>
                <a:latin typeface="DejaVu Sans Mono"/>
              </a:rPr>
              <a:t>authoritative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11480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02252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GIT REPOSITORY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C7B88"/>
                </a:solidFill>
                <a:latin typeface="DejaVu Sans Mono"/>
              </a:rPr>
              <a:t>read by the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411480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302252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26B12"/>
                </a:solidFill>
                <a:latin typeface="DejaVu Sans Mono"/>
              </a:rPr>
              <a:t>invisible to automation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74519" y="3291840"/>
            <a:ext cx="640081" cy="80467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00200" y="36118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C7B88"/>
                </a:solidFill>
                <a:latin typeface="DejaVu Sans Mono"/>
              </a:rPr>
              <a:t>FETCH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291840"/>
            <a:ext cx="822960" cy="80467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60520" y="36118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C7B88"/>
                </a:solidFill>
                <a:latin typeface="DejaVu Sans Mono"/>
              </a:rPr>
              <a:t>Pull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257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8B3"/>
                </a:solidFill>
                <a:latin typeface="DejaVu Sans Mono"/>
              </a:rPr>
              <a:t>siblings — not parent &amp; child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47850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000" b="1">
                <a:solidFill>
                  <a:srgbClr val="25313A"/>
                </a:solidFill>
                <a:latin typeface="DejaVu Sans"/>
              </a:rPr>
              <a:t>Three copies.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17520"/>
            <a:ext cx="47850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000" b="1">
                <a:solidFill>
                  <a:srgbClr val="25313A"/>
                </a:solidFill>
                <a:latin typeface="DejaVu Sans"/>
              </a:rPr>
              <a:t>All can be </a:t>
            </a:r>
            <a:r>
              <a:rPr sz="3000" b="1">
                <a:solidFill>
                  <a:srgbClr val="B26B12"/>
                </a:solidFill>
                <a:latin typeface="DejaVu Sans"/>
              </a:rPr>
              <a:t>stale</a:t>
            </a:r>
            <a:r>
              <a:rPr sz="3000" b="1">
                <a:solidFill>
                  <a:srgbClr val="25313A"/>
                </a:solidFill>
                <a:latin typeface="DejaVu Sans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968496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8" y="3886200"/>
            <a:ext cx="449244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A GIT REPOSITORY is a snapshot, not a live link — FETCH or it is stale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626864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4544568"/>
            <a:ext cx="449244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A workspace lives in your personal database; a scheduled task cannot read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5285231"/>
            <a:ext cx="82296" cy="822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5202936"/>
            <a:ext cx="449244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5313A"/>
                </a:solidFill>
                <a:latin typeface="DejaVu Sans"/>
              </a:rPr>
              <a:t>GitHub is authoritative. The other two are caches.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THREE COPIES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08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WHY DRIFT DETECTION MUST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A change travels </a:t>
            </a:r>
            <a:r>
              <a:rPr sz="3300" b="1">
                <a:solidFill>
                  <a:srgbClr val="B26B12"/>
                </a:solidFill>
                <a:latin typeface="DejaVu Sans"/>
              </a:rPr>
              <a:t>one direction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047" y="3108960"/>
            <a:ext cx="11704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313A"/>
                </a:solidFill>
                <a:latin typeface="DejaVu Sans Mono"/>
              </a:rPr>
              <a:t>edit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08479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73071" y="3108960"/>
            <a:ext cx="11704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3071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313A"/>
                </a:solidFill>
                <a:latin typeface="DejaVu Sans Mono"/>
              </a:rPr>
              <a:t>commit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43503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08095" y="3108960"/>
            <a:ext cx="1170432" cy="658368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8095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DejaVu Sans Mono"/>
              </a:rPr>
              <a:t>GitHub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78527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43119" y="3108960"/>
            <a:ext cx="11704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119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313A"/>
                </a:solidFill>
                <a:latin typeface="DejaVu Sans Mono"/>
              </a:rPr>
              <a:t>FETCH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3551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178143" y="3108960"/>
            <a:ext cx="11704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8143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313A"/>
                </a:solidFill>
                <a:latin typeface="DejaVu Sans Mono"/>
              </a:rPr>
              <a:t>PLAN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48575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513167" y="3108960"/>
            <a:ext cx="11704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3167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313A"/>
                </a:solidFill>
                <a:latin typeface="DejaVu Sans Mono"/>
              </a:rPr>
              <a:t>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3599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848191" y="3108960"/>
            <a:ext cx="11704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8191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313A"/>
                </a:solidFill>
                <a:latin typeface="DejaVu Sans Mono"/>
              </a:rPr>
              <a:t>DEPLOY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18623" y="3438144"/>
            <a:ext cx="164592" cy="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183215" y="3108960"/>
            <a:ext cx="1170432" cy="658368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3215" y="3319272"/>
            <a:ext cx="1170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DejaVu Sans Mono"/>
              </a:rPr>
              <a:t>database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093311" y="3767328"/>
            <a:ext cx="6675120" cy="0"/>
          </a:xfrm>
          <a:prstGeom prst="bentConnector3">
            <a:avLst/>
          </a:prstGeom>
          <a:ln w="17780">
            <a:prstDash val="dash"/>
            <a:solidFill>
              <a:srgbClr val="B26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845655" y="4069080"/>
            <a:ext cx="274320" cy="18288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047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26B12"/>
                </a:solidFill>
                <a:latin typeface="DejaVu Sans"/>
              </a:rPr>
              <a:t>✕  no path 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486400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A hand-made </a:t>
            </a:r>
            <a:r>
              <a:rPr sz="1200" b="0">
                <a:solidFill>
                  <a:srgbClr val="36454F"/>
                </a:solidFill>
                <a:latin typeface="DejaVu Sans Mono"/>
              </a:rPr>
              <a:t>ALTER</a:t>
            </a:r>
            <a:r>
              <a:rPr sz="1350" b="0">
                <a:solidFill>
                  <a:srgbClr val="6C7B88"/>
                </a:solidFill>
                <a:latin typeface="DejaVu Sans"/>
              </a:rPr>
              <a:t> never flows back into the repo. That asymmetry is exactly why the third question has to be asked at all.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ONE DIRECTION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09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HOW A DEVELOPER 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Dev fast. </a:t>
            </a:r>
            <a:r>
              <a:rPr sz="3300" b="1">
                <a:solidFill>
                  <a:srgbClr val="B26B12"/>
                </a:solidFill>
                <a:latin typeface="DejaVu Sans"/>
              </a:rPr>
              <a:t>Prod from git.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33756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33572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313A"/>
                </a:solidFill>
                <a:latin typeface="DejaVu Sans Mono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C7B88"/>
                </a:solidFill>
                <a:latin typeface="DejaVu Sans Mono"/>
              </a:rPr>
              <a:t>where I 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2468880"/>
            <a:ext cx="2286000" cy="731520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4203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DejaVu Sans Mono"/>
              </a:rPr>
              <a:t>DEMO_PBI_DEV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9C4CC"/>
                </a:solidFill>
                <a:latin typeface="DejaVu Sans Mono"/>
              </a:rPr>
              <a:t>fast · no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416052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23367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git · main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C7B88"/>
                </a:solidFill>
                <a:latin typeface="DejaVu Sans Mono"/>
              </a:rPr>
              <a:t>commit · PR ·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4160520"/>
            <a:ext cx="2743200" cy="731520"/>
          </a:xfrm>
          <a:prstGeom prst="rect">
            <a:avLst/>
          </a:prstGeom>
          <a:solidFill>
            <a:srgbClr val="F6E9D6"/>
          </a:solidFill>
          <a:ln w="12700">
            <a:solidFill>
              <a:srgbClr val="E3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423367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8A5210"/>
                </a:solidFill>
                <a:latin typeface="DejaVu Sans Mono"/>
              </a:rPr>
              <a:t>DEMO_PBI_PROD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5210"/>
                </a:solidFill>
                <a:latin typeface="DejaVu Sans Mono"/>
              </a:rPr>
              <a:t>reviewed · reproducible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971800" y="2880360"/>
            <a:ext cx="1627632" cy="640080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08960" y="30175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C7B88"/>
                </a:solidFill>
                <a:latin typeface="DejaVu Sans Mono"/>
              </a:rPr>
              <a:t>Deploy · DEV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3749039"/>
            <a:ext cx="1627632" cy="640081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0" y="4114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C7B88"/>
                </a:solidFill>
                <a:latin typeface="DejaVu Sans Mono"/>
              </a:rPr>
              <a:t>push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4526280"/>
            <a:ext cx="1627632" cy="0"/>
          </a:xfrm>
          <a:prstGeom prst="bentConnector3">
            <a:avLst/>
          </a:prstGeom>
          <a:ln w="17780">
            <a:solidFill>
              <a:srgbClr val="B26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12280" y="42245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26B12"/>
                </a:solidFill>
                <a:latin typeface="DejaVu Sans Mono"/>
              </a:rPr>
              <a:t>DEPLOY USING CONFIGURATION 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86400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Same files build both — 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env_suffix</a:t>
            </a:r>
            <a:r>
              <a:rPr sz="1300" b="0">
                <a:solidFill>
                  <a:srgbClr val="6C7B88"/>
                </a:solidFill>
                <a:latin typeface="DejaVu Sans"/>
              </a:rPr>
              <a:t> is the only difference. Prod is deployed </a:t>
            </a:r>
            <a:r>
              <a:rPr sz="1300" b="1">
                <a:solidFill>
                  <a:srgbClr val="25313A"/>
                </a:solidFill>
                <a:latin typeface="DejaVu Sans"/>
              </a:rPr>
              <a:t>from git, never the workspace</a:t>
            </a:r>
            <a:r>
              <a:rPr sz="1300" b="0">
                <a:solidFill>
                  <a:srgbClr val="6C7B88"/>
                </a:solidFill>
                <a:latin typeface="DejaVu Sans"/>
              </a:rPr>
              <a:t> — so git and prod agree by construction, and the drift check stays honest.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PROMOTION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10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THE SPINE OF THE WHOLE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Three questions. Git answers two.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651760"/>
            <a:ext cx="102714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26B12"/>
                </a:solidFill>
                <a:latin typeface="DejaVu Sa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825496"/>
            <a:ext cx="61566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5313A"/>
                </a:solidFill>
                <a:latin typeface="DejaVu Sans"/>
              </a:rPr>
              <a:t>What changed in the definition?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28455" y="2852928"/>
            <a:ext cx="1737360" cy="31089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8455" y="29260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6454F"/>
                </a:solidFill>
                <a:latin typeface="DejaVu Sans Mono"/>
              </a:rPr>
              <a:t>git diff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493008"/>
            <a:ext cx="102714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675887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26B12"/>
                </a:solidFill>
                <a:latin typeface="DejaVu Sa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666744"/>
            <a:ext cx="61566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25313A"/>
                </a:solidFill>
                <a:latin typeface="DejaVu Sans"/>
              </a:rPr>
              <a:t>What will change in the database?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28455" y="3694176"/>
            <a:ext cx="1737360" cy="31089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8455" y="37673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6454F"/>
                </a:solidFill>
                <a:latin typeface="DejaVu Sans Mono"/>
              </a:rPr>
              <a:t>DCM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334256"/>
            <a:ext cx="102714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4334256"/>
            <a:ext cx="10271455" cy="38100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517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B26B12"/>
                </a:solidFill>
                <a:latin typeface="DejaVu Sa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507992"/>
            <a:ext cx="61566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5313A"/>
                </a:solidFill>
                <a:latin typeface="DejaVu Sans"/>
              </a:rPr>
              <a:t>What changed without going through either?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8455" y="4535424"/>
            <a:ext cx="1737360" cy="310896"/>
          </a:xfrm>
          <a:prstGeom prst="rect">
            <a:avLst/>
          </a:prstGeom>
          <a:solidFill>
            <a:srgbClr val="F6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8455" y="46085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B26B12"/>
                </a:solidFill>
                <a:latin typeface="DejaVu Sans Mono"/>
              </a:rPr>
              <a:t>drift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94960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36454F"/>
                </a:solidFill>
                <a:latin typeface="DejaVu Sans"/>
              </a:rPr>
              <a:t>The third is the one we have </a:t>
            </a:r>
            <a:r>
              <a:rPr sz="1800" b="1">
                <a:solidFill>
                  <a:srgbClr val="B26B12"/>
                </a:solidFill>
                <a:latin typeface="DejaVu Sans"/>
              </a:rPr>
              <a:t>never been able to see.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THREE DIFFS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11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DRIFT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19" y="2468880"/>
            <a:ext cx="2194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262432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PLAN compiles?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3657600"/>
            <a:ext cx="1737360" cy="685800"/>
          </a:xfrm>
          <a:prstGeom prst="rect">
            <a:avLst/>
          </a:prstGeom>
          <a:solidFill>
            <a:srgbClr val="F3E2DE"/>
          </a:solidFill>
          <a:ln w="12700">
            <a:solidFill>
              <a:srgbClr val="8C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3707891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8C3B2E"/>
                </a:solidFill>
                <a:latin typeface="DejaVu Sans Mono"/>
              </a:rPr>
              <a:t>ERROR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C3B2E"/>
                </a:solidFill>
                <a:latin typeface="DejaVu Sans Mono"/>
              </a:rPr>
              <a:t>un-revertible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365760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81304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5313A"/>
                </a:solidFill>
                <a:latin typeface="DejaVu Sans Mono"/>
              </a:rPr>
              <a:t>changeset empty?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892040"/>
            <a:ext cx="1737360" cy="685800"/>
          </a:xfrm>
          <a:prstGeom prst="rect">
            <a:avLst/>
          </a:prstGeom>
          <a:solidFill>
            <a:srgbClr val="E7EDE8"/>
          </a:solidFill>
          <a:ln w="12700">
            <a:solidFill>
              <a:srgbClr val="4B6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42331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4B6650"/>
                </a:solidFill>
                <a:latin typeface="DejaVu Sans Mono"/>
              </a:rPr>
              <a:t>CLEAN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4B6650"/>
                </a:solidFill>
                <a:latin typeface="DejaVu Sans Mono"/>
              </a:rPr>
              <a:t>matches repo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4892040"/>
            <a:ext cx="1737360" cy="685800"/>
          </a:xfrm>
          <a:prstGeom prst="rect">
            <a:avLst/>
          </a:prstGeom>
          <a:solidFill>
            <a:srgbClr val="F6E9D6"/>
          </a:solidFill>
          <a:ln w="12700">
            <a:solidFill>
              <a:srgbClr val="B2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4942331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B26B12"/>
                </a:solidFill>
                <a:latin typeface="DejaVu Sans Mono"/>
              </a:rPr>
              <a:t>DRIFT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26B12"/>
                </a:solidFill>
                <a:latin typeface="DejaVu Sans Mono"/>
              </a:rPr>
              <a:t>names the column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2743200"/>
            <a:ext cx="1005840" cy="89611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80560" y="3063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C3B2E"/>
                </a:solidFill>
                <a:latin typeface="DejaVu Sans Mono"/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697480" y="3017520"/>
            <a:ext cx="91440" cy="62179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34639" y="3200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C7B88"/>
                </a:solidFill>
                <a:latin typeface="DejaVu Sans Mono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4206240"/>
            <a:ext cx="320040" cy="66751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63040" y="44805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B6650"/>
                </a:solidFill>
                <a:latin typeface="DejaVu Sans Mono"/>
              </a:rPr>
              <a:t>empty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4206240"/>
            <a:ext cx="548640" cy="66751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66160" y="44805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B26B12"/>
                </a:solidFill>
                <a:latin typeface="DejaVu Sans Mono"/>
              </a:rPr>
              <a:t>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377440"/>
            <a:ext cx="46021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000" b="1">
                <a:solidFill>
                  <a:srgbClr val="25313A"/>
                </a:solidFill>
                <a:latin typeface="DejaVu Sans"/>
              </a:rPr>
              <a:t>Three verdicts,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063240"/>
            <a:ext cx="46021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000" b="1">
                <a:solidFill>
                  <a:srgbClr val="25313A"/>
                </a:solidFill>
                <a:latin typeface="DejaVu Sans"/>
              </a:rPr>
              <a:t>not two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886200"/>
            <a:ext cx="46021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A two-state monitor — “changeset empty or not” — reads the worst case as a broken job.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4617720"/>
            <a:ext cx="460217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4617720"/>
            <a:ext cx="41148" cy="1280160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2008" y="4791456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B26B12"/>
                </a:solidFill>
                <a:latin typeface="DejaVu Sans Mono"/>
              </a:rPr>
              <a:t>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882896"/>
            <a:ext cx="3230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9AA8B3"/>
                </a:solidFill>
                <a:latin typeface="DejaVu Sans"/>
              </a:rPr>
              <a:t>of 53</a:t>
            </a:r>
            <a:r>
              <a:rPr sz="1300" b="0">
                <a:solidFill>
                  <a:srgbClr val="36454F"/>
                </a:solidFill>
                <a:latin typeface="DejaVu Sans"/>
              </a:rPr>
              <a:t> columns are not the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36454F"/>
                </a:solidFill>
                <a:latin typeface="DejaVu Sans"/>
              </a:rPr>
              <a:t>last column in their 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5486400"/>
            <a:ext cx="4236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C7B88"/>
                </a:solidFill>
                <a:latin typeface="DejaVu Sans"/>
              </a:rPr>
              <a:t>Restoring one mid-list is a reorder Snowflake can't do — ERROR is the common case.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VERDICTS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12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WHAT IT RETURNS · WHAT SNOWFLAKE FORGETS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2700" b="1">
                <a:solidFill>
                  <a:srgbClr val="25313A"/>
                </a:solidFill>
                <a:latin typeface="DejaVu Sans"/>
              </a:rPr>
              <a:t>It names the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148840"/>
            <a:ext cx="5212080" cy="140309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148840"/>
            <a:ext cx="41148" cy="14030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95144"/>
            <a:ext cx="4800600" cy="1128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ALTER TABLE</a:t>
            </a:r>
            <a:r>
              <a:rPr sz="1250" b="0">
                <a:solidFill>
                  <a:srgbClr val="36454F"/>
                </a:solidFill>
                <a:latin typeface="DejaVu Sans Mono"/>
              </a:rPr>
              <a:t> …PRE.DIM_PBI_CAPACITIES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  columns: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B26B12"/>
                </a:solidFill>
                <a:latin typeface="DejaVu Sans Mono"/>
              </a:rPr>
              <a:t>    removed "HAND_ADDED_BY_A_HUMAN"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B26B12"/>
                </a:solidFill>
                <a:latin typeface="DejaVu Sans Mono"/>
              </a:rPr>
              <a:t>            VARCHAR(100), nullable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Not “a table differs.” The name, the type, and which way the fix runs — the difference between an alert worth waking for and one people mute.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417320"/>
            <a:ext cx="4693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A8B3"/>
                </a:solidFill>
                <a:latin typeface="DejaVu Sans Mono"/>
              </a:rPr>
              <a:t>MEASURED — 7+ PLANS, 4 DEPLOYS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59" y="1737360"/>
            <a:ext cx="4693615" cy="167614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59" y="1737360"/>
            <a:ext cx="41148" cy="167614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883664"/>
            <a:ext cx="4282135" cy="1401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SELECT PHASE, COUNT(*)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>  FROM DCM_DEPLOYMENT_HISTORY(…)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36454F"/>
                </a:solidFill>
                <a:latin typeface="DejaVu Sans Mono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6C7B88"/>
                </a:solidFill>
                <a:latin typeface="DejaVu Sans Mono"/>
              </a:rPr>
              <a:t>  PHASE     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  DEPLOY    4</a:t>
            </a:r>
            <a:r>
              <a:rPr sz="1250" b="1">
                <a:solidFill>
                  <a:srgbClr val="B26B12"/>
                </a:solidFill>
                <a:latin typeface="DejaVu Sans Mono"/>
              </a:rPr>
              <a:t>   ← no PLAN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566160"/>
            <a:ext cx="46936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5313A"/>
                </a:solidFill>
                <a:latin typeface="DejaVu Sans"/>
              </a:rPr>
              <a:t>The drift check is the one thing Snowflake doesn't record.</a:t>
            </a:r>
            <a:r>
              <a:rPr sz="1300" b="0">
                <a:solidFill>
                  <a:srgbClr val="6C7B88"/>
                </a:solidFill>
                <a:latin typeface="DejaVu Sans"/>
              </a:rPr>
              <a:t> Deployments keep 12-month artifacts; plans keep nothing, with no 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ACCOUNT_USAGE</a:t>
            </a:r>
            <a:r>
              <a:rPr sz="1300" b="0">
                <a:solidFill>
                  <a:srgbClr val="6C7B88"/>
                </a:solidFill>
                <a:latin typeface="DejaVu Sans"/>
              </a:rPr>
              <a:t> view — so we keep our own log. It answers </a:t>
            </a:r>
            <a:r>
              <a:rPr sz="1300" b="1">
                <a:solidFill>
                  <a:srgbClr val="36454F"/>
                </a:solidFill>
                <a:latin typeface="DejaVu Sans"/>
              </a:rPr>
              <a:t>when did this drift start?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THE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13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WHAT WE FOUND BY BREAKING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Thirteen findings. Four from deliberate sabotage.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081528"/>
            <a:ext cx="10271455" cy="9144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97479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26B12"/>
                </a:solidFill>
                <a:latin typeface="DejaVu Sans Mono"/>
              </a:rPr>
              <a:t>F5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97479"/>
            <a:ext cx="8991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5313A"/>
                </a:solidFill>
                <a:latin typeface="DejaVu Sans"/>
              </a:rPr>
              <a:t>Drift is detected and reported at column level — the verdict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090672"/>
            <a:ext cx="10271455" cy="53035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611880"/>
            <a:ext cx="10271455" cy="9144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278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26B12"/>
                </a:solidFill>
                <a:latin typeface="DejaVu Sans Mono"/>
              </a:rPr>
              <a:t>F6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227832"/>
            <a:ext cx="8991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5313A"/>
                </a:solidFill>
                <a:latin typeface="DejaVu Sans"/>
              </a:rPr>
              <a:t>DCM records DEPLOY, never PLAN — an audit table is mandatory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142232"/>
            <a:ext cx="10271455" cy="9144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5818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26B12"/>
                </a:solidFill>
                <a:latin typeface="DejaVu Sans Mono"/>
              </a:rPr>
              <a:t>F7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758184"/>
            <a:ext cx="8991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5313A"/>
                </a:solidFill>
                <a:latin typeface="DejaVu Sans"/>
              </a:rPr>
              <a:t>Dropping a column that is not last is un-revertible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151375"/>
            <a:ext cx="10271455" cy="530352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" y="4672583"/>
            <a:ext cx="10271455" cy="9144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8853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26B12"/>
                </a:solidFill>
                <a:latin typeface="DejaVu Sans Mono"/>
              </a:rPr>
              <a:t>F9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288536"/>
            <a:ext cx="8991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5313A"/>
                </a:solidFill>
                <a:latin typeface="DejaVu Sans"/>
              </a:rPr>
              <a:t>Our own monitor sat suspended while its health view reported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202936"/>
            <a:ext cx="10271455" cy="9144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8188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26B12"/>
                </a:solidFill>
                <a:latin typeface="DejaVu Sans Mono"/>
              </a:rPr>
              <a:t>F11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818888"/>
            <a:ext cx="8991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5313A"/>
                </a:solidFill>
                <a:latin typeface="DejaVu Sans"/>
              </a:rPr>
              <a:t>Has now run unattended two consecutive nights, ~30s per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486400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36454F"/>
                </a:solidFill>
                <a:latin typeface="DejaVu Sans"/>
              </a:rPr>
              <a:t>Every failure we found was something </a:t>
            </a:r>
            <a:r>
              <a:rPr sz="1700" b="1">
                <a:solidFill>
                  <a:srgbClr val="B26B12"/>
                </a:solidFill>
                <a:latin typeface="DejaVu Sans"/>
              </a:rPr>
              <a:t>reporting success without checking</a:t>
            </a:r>
            <a:r>
              <a:rPr sz="1700" b="0">
                <a:solidFill>
                  <a:srgbClr val="36454F"/>
                </a:solidFill>
                <a:latin typeface="DejaVu Sans"/>
              </a:rPr>
              <a:t> what it claimed to check.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14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LIVE · END TO END · ~20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What we'll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AA8B3"/>
                </a:solidFill>
                <a:latin typeface="DejaVu Sa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51760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CREATE TABLE IF NOT EXISTS succeeding against a table it never looked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015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AA8B3"/>
                </a:solidFill>
                <a:latin typeface="DejaVu Sans Mon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401568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Build a project from nothing — scaffold, definitions, plan,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513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AA8B3"/>
                </a:solidFill>
                <a:latin typeface="DejaVu Sans Mon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151376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Push to git — the repo fills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01183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AA8B3"/>
                </a:solidFill>
                <a:latin typeface="DejaVu Sans Mon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901183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Snowflake pulls its own copy; the plan agrees from both directions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65176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AA8B3"/>
                </a:solidFill>
                <a:latin typeface="DejaVu Sans Mon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651760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Add a table, push, fetch, deploy — a change travelling through git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0167" y="3355848"/>
            <a:ext cx="4861407" cy="658368"/>
          </a:xfrm>
          <a:prstGeom prst="rect">
            <a:avLst/>
          </a:prstGeom>
          <a:solidFill>
            <a:srgbClr val="F6E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34015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26B12"/>
                </a:solidFill>
                <a:latin typeface="DejaVu Sans Mon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247" y="3401568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6454F"/>
                </a:solidFill>
                <a:latin typeface="DejaVu Sans"/>
              </a:rPr>
              <a:t>Tamper by hand — GitHub shows nothing, the drift check names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41513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9AA8B3"/>
                </a:solidFill>
                <a:latin typeface="DejaVu Sans Mono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4151376"/>
            <a:ext cx="41298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C7B88"/>
                </a:solidFill>
                <a:latin typeface="DejaVu Sans"/>
              </a:rPr>
              <a:t>The un-revertible case, and why it changes the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THE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15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BEYOND SCHEMA ·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74320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39212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5313A"/>
                </a:solidFill>
                <a:latin typeface="DejaVu Sans Mono"/>
              </a:rPr>
              <a:t>does it MATCH?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C7B88"/>
                </a:solidFill>
                <a:latin typeface="DejaVu Sans Mono"/>
              </a:rPr>
              <a:t>PLAN ·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97680"/>
            <a:ext cx="2468880" cy="777240"/>
          </a:xfrm>
          <a:prstGeom prst="rect">
            <a:avLst/>
          </a:prstGeom>
          <a:solidFill>
            <a:srgbClr val="F6E9D6"/>
          </a:solidFill>
          <a:ln w="12700">
            <a:solidFill>
              <a:srgbClr val="E3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93692"/>
            <a:ext cx="2468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8A5210"/>
                </a:solidFill>
                <a:latin typeface="DejaVu Sans Mono"/>
              </a:rPr>
              <a:t>does the data PASS?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8A5210"/>
                </a:solidFill>
                <a:latin typeface="DejaVu Sans Mono"/>
              </a:rPr>
              <a:t>snow dcm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3520440"/>
            <a:ext cx="2194560" cy="868680"/>
          </a:xfrm>
          <a:prstGeom prst="rect">
            <a:avLst/>
          </a:prstGeom>
          <a:solidFill>
            <a:srgbClr val="36454F"/>
          </a:solidFill>
          <a:ln w="12700">
            <a:solidFill>
              <a:srgbClr val="C2C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3662172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DejaVu Sans Mono"/>
              </a:rPr>
              <a:t>the table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9C4CC"/>
                </a:solidFill>
                <a:latin typeface="DejaVu Sans Mono"/>
              </a:rPr>
              <a:t>PRE.DIM_PBI_…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3127248"/>
            <a:ext cx="1444752" cy="576072"/>
          </a:xfrm>
          <a:prstGeom prst="bentConnector3">
            <a:avLst/>
          </a:prstGeom>
          <a:ln w="17780">
            <a:solidFill>
              <a:srgbClr val="6C7B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429000" y="4160520"/>
            <a:ext cx="1444752" cy="521208"/>
          </a:xfrm>
          <a:prstGeom prst="bentConnector3">
            <a:avLst/>
          </a:prstGeom>
          <a:ln w="17780">
            <a:solidFill>
              <a:srgbClr val="B26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11880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this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2245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B26B12"/>
                </a:solidFill>
                <a:latin typeface="DejaVu Sans Mono"/>
              </a:rPr>
              <a:t>not yet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68880"/>
            <a:ext cx="3687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2800" b="1">
                <a:solidFill>
                  <a:srgbClr val="25313A"/>
                </a:solidFill>
                <a:latin typeface="DejaVu Sans"/>
              </a:rPr>
              <a:t>Gate the </a:t>
            </a:r>
            <a:r>
              <a:rPr sz="2800" b="1">
                <a:solidFill>
                  <a:srgbClr val="B26B12"/>
                </a:solidFill>
                <a:latin typeface="DejaVu Sans"/>
              </a:rPr>
              <a:t>data</a:t>
            </a:r>
            <a:r>
              <a:rPr sz="2800" b="1">
                <a:solidFill>
                  <a:srgbClr val="25313A"/>
                </a:solidFill>
                <a:latin typeface="DejaVu Sans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54680"/>
            <a:ext cx="3687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2800" b="1">
                <a:solidFill>
                  <a:srgbClr val="25313A"/>
                </a:solidFill>
                <a:latin typeface="DejaVu Sans"/>
              </a:rPr>
              <a:t>not just the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23360"/>
            <a:ext cx="3687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This POC proved the database matches the repo. The same declarative project can prove the data passes — quality checks declared beside the schema.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5257800"/>
            <a:ext cx="3687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C7B88"/>
                </a:solidFill>
                <a:latin typeface="DejaVu Sans"/>
              </a:rPr>
              <a:t>ATTACH a data metric function with an EXPECTATION, then </a:t>
            </a:r>
            <a:r>
              <a:rPr sz="1150" b="0">
                <a:solidFill>
                  <a:srgbClr val="36454F"/>
                </a:solidFill>
                <a:latin typeface="DejaVu Sans Mono"/>
              </a:rPr>
              <a:t>snow dcm test</a:t>
            </a:r>
            <a:r>
              <a:rPr sz="1350" b="1">
                <a:solidFill>
                  <a:srgbClr val="25313A"/>
                </a:solidFill>
                <a:latin typeface="DejaVu Sans"/>
              </a:rPr>
              <a:t>. A GA capability we never 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BEYOND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16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BEYOND SCHEMA ·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300" b="1">
                <a:solidFill>
                  <a:srgbClr val="25313A"/>
                </a:solidFill>
                <a:latin typeface="DejaVu Sans"/>
              </a:rPr>
              <a:t>Quality gates, declared beside the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514600"/>
            <a:ext cx="5943600" cy="2342896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514600"/>
            <a:ext cx="41148" cy="2342896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60904"/>
            <a:ext cx="5532120" cy="206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-- in the same sources/definitions file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5313A"/>
                </a:solidFill>
                <a:latin typeface="DejaVu Sans Mono"/>
              </a:rPr>
              <a:t>ATTACH DATA METRIC FUNCTION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SNOWFLAKE.CORE.NULL_COUNT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5313A"/>
                </a:solidFill>
                <a:latin typeface="DejaVu Sans Mono"/>
              </a:rPr>
              <a:t>  TO TABLE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DEVELOP.PRE.DIM_PBI_CAPACITIES </a:t>
            </a:r>
            <a:r>
              <a:rPr sz="1100" b="1">
                <a:solidFill>
                  <a:srgbClr val="25313A"/>
                </a:solidFill>
                <a:latin typeface="DejaVu Sans Mono"/>
              </a:rPr>
              <a:t>ON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(ID)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5313A"/>
                </a:solidFill>
                <a:latin typeface="DejaVu Sans Mono"/>
              </a:rPr>
              <a:t>  EXPECTATION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no_null_ids ( </a:t>
            </a:r>
            <a:r>
              <a:rPr sz="1100" b="1">
                <a:solidFill>
                  <a:srgbClr val="B26B12"/>
                </a:solidFill>
                <a:latin typeface="DejaVu Sans Mono"/>
              </a:rPr>
              <a:t>VALUE = 0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);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6454F"/>
                </a:solidFill>
                <a:latin typeface="DejaVu Sans Mono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5313A"/>
                </a:solidFill>
                <a:latin typeface="DejaVu Sans Mono"/>
              </a:rPr>
              <a:t>ATTACH DATA METRIC FUNCTION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SNOWFLAKE.CORE.DUPLICATE_COUNT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5313A"/>
                </a:solidFill>
                <a:latin typeface="DejaVu Sans Mono"/>
              </a:rPr>
              <a:t>  TO TABLE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DEVELOP.PRE.DIM_PBI_CAPACITIES </a:t>
            </a:r>
            <a:r>
              <a:rPr sz="1100" b="1">
                <a:solidFill>
                  <a:srgbClr val="25313A"/>
                </a:solidFill>
                <a:latin typeface="DejaVu Sans Mono"/>
              </a:rPr>
              <a:t>ON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(ID)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5313A"/>
                </a:solidFill>
                <a:latin typeface="DejaVu Sans Mono"/>
              </a:rPr>
              <a:t>  EXPECTATION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unique_ids ( </a:t>
            </a:r>
            <a:r>
              <a:rPr sz="1100" b="1">
                <a:solidFill>
                  <a:srgbClr val="B26B12"/>
                </a:solidFill>
                <a:latin typeface="DejaVu Sans Mono"/>
              </a:rPr>
              <a:t>VALUE = 0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 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09160"/>
            <a:ext cx="594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C7B88"/>
                </a:solidFill>
                <a:latin typeface="DejaVu Sans"/>
              </a:rPr>
              <a:t>The left side is always the keyword </a:t>
            </a:r>
            <a:r>
              <a:rPr sz="1100" b="0">
                <a:solidFill>
                  <a:srgbClr val="36454F"/>
                </a:solidFill>
                <a:latin typeface="DejaVu Sans Mono"/>
              </a:rPr>
              <a:t>VALUE</a:t>
            </a:r>
            <a:r>
              <a:rPr sz="1250" b="0">
                <a:solidFill>
                  <a:srgbClr val="6C7B88"/>
                </a:solidFill>
                <a:latin typeface="DejaVu Sans"/>
              </a:rPr>
              <a:t>. No subqueries, casts or arithmetic — a check, not a query.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916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A8B3"/>
                </a:solidFill>
                <a:latin typeface="DejaVu Sans Mono"/>
              </a:rPr>
              <a:t>ONE COMMAND RUNS THEM 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788920"/>
            <a:ext cx="3916375" cy="1911095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788920"/>
            <a:ext cx="41148" cy="1911095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935224"/>
            <a:ext cx="3504895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>$ snow dcm test PBI_CAPACITIES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36454F"/>
                </a:solidFill>
                <a:latin typeface="DejaVu Sans Mono"/>
              </a:rPr>
              <a:t/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4B6650"/>
                </a:solidFill>
                <a:latin typeface="DejaVu Sans Mono"/>
              </a:rPr>
              <a:t>  PASS  no_null_ids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B26B12"/>
                </a:solidFill>
                <a:latin typeface="DejaVu Sans Mono"/>
              </a:rPr>
              <a:t>  FAIL  unique_ids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C7B88"/>
                </a:solidFill>
                <a:latin typeface="DejaVu Sans Mono"/>
              </a:rPr>
              <a:t>     Expected VALUE = 0, got 1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C7B88"/>
                </a:solidFill>
                <a:latin typeface="DejaVu Sans Mono"/>
              </a:rPr>
              <a:t>  1 passed, 1 failed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800600"/>
            <a:ext cx="391637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C7B88"/>
                </a:solidFill>
                <a:latin typeface="DejaVu Sans"/>
              </a:rPr>
              <a:t>A </a:t>
            </a:r>
            <a:r>
              <a:rPr sz="1250" b="1">
                <a:solidFill>
                  <a:srgbClr val="25313A"/>
                </a:solidFill>
                <a:latin typeface="DejaVu Sans"/>
              </a:rPr>
              <a:t>verified run</a:t>
            </a:r>
            <a:r>
              <a:rPr sz="1250" b="0">
                <a:solidFill>
                  <a:srgbClr val="6C7B88"/>
                </a:solidFill>
                <a:latin typeface="DejaVu Sans"/>
              </a:rPr>
              <a:t>, not a mock-up. Exits non-zero on failure, so it gates a pipeline. The same check sits on landing, staging and presentation — bad data caught where it enters, not three dashboards later.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BEYOND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17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12700">
            <a:solidFill>
              <a:srgbClr val="D3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" y="658368"/>
            <a:ext cx="256032" cy="25603"/>
          </a:xfrm>
          <a:prstGeom prst="rect">
            <a:avLst/>
          </a:prstGeom>
          <a:solidFill>
            <a:srgbClr val="B2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5486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C7B88"/>
                </a:solidFill>
                <a:latin typeface="DejaVu Sans Mono"/>
              </a:rPr>
              <a:t>HONEST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000" b="1">
                <a:solidFill>
                  <a:srgbClr val="25313A"/>
                </a:solidFill>
                <a:latin typeface="DejaVu Sans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102714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3000" b="1">
                <a:solidFill>
                  <a:srgbClr val="25313A"/>
                </a:solidFill>
                <a:latin typeface="DejaVu Sans"/>
              </a:rPr>
              <a:t>not yet prove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282696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200400"/>
            <a:ext cx="482803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One slice — 8 tables, 53 columns, no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758183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675887"/>
            <a:ext cx="482803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Untested at full-estate scale (52 tables)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233672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4151376"/>
            <a:ext cx="482803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Data-quality gates (expectations) not yet 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709160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4626864"/>
            <a:ext cx="482803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Grants, tasks, streams not yet tested by 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184648"/>
            <a:ext cx="82296" cy="82296"/>
          </a:xfrm>
          <a:prstGeom prst="rect">
            <a:avLst/>
          </a:prstGeom>
          <a:solidFill>
            <a:srgbClr val="6C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5102352"/>
            <a:ext cx="482803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C7B88"/>
                </a:solidFill>
                <a:latin typeface="DejaVu Sans"/>
              </a:rPr>
              <a:t>ERROR recovery rehearsed only on empty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3017520"/>
            <a:ext cx="10972" cy="2560320"/>
          </a:xfrm>
          <a:prstGeom prst="rect">
            <a:avLst/>
          </a:prstGeom>
          <a:solidFill>
            <a:srgbClr val="D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3200400"/>
            <a:ext cx="40535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36454F"/>
                </a:solidFill>
                <a:latin typeface="DejaVu Sans"/>
              </a:rPr>
              <a:t>The database can now tell us </a:t>
            </a:r>
            <a:r>
              <a:rPr sz="1800" b="1">
                <a:solidFill>
                  <a:srgbClr val="B26B12"/>
                </a:solidFill>
                <a:latin typeface="DejaVu Sans"/>
              </a:rPr>
              <a:t>every morning</a:t>
            </a:r>
            <a:r>
              <a:rPr sz="1800" b="0">
                <a:solidFill>
                  <a:srgbClr val="36454F"/>
                </a:solidFill>
                <a:latin typeface="DejaVu Sans"/>
              </a:rPr>
              <a:t> whether it still matches the repo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36454F"/>
                </a:solidFill>
                <a:latin typeface="DejaVu Sans"/>
              </a:rPr>
              <a:t>and name the column when it doesn't.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5212080"/>
            <a:ext cx="4053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8B3"/>
                </a:solidFill>
                <a:latin typeface="DejaVu Sans"/>
              </a:rPr>
              <a:t>Scheduled PLAN first — it's read-only. DEPLOY stays a human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60716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8B3"/>
                </a:solidFill>
                <a:latin typeface="DejaVu Sans Mono"/>
              </a:rPr>
              <a:t>SCHEMA DRIFT, CAUGHT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015" y="6071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6454F"/>
                </a:solidFill>
                <a:latin typeface="DejaVu Sans Mono"/>
              </a:rPr>
              <a:t>18</a:t>
            </a:r>
            <a:r>
              <a:rPr sz="950" b="0">
                <a:solidFill>
                  <a:srgbClr val="9AA8B3"/>
                </a:solidFill>
                <a:latin typeface="DejaVu Sans Mono"/>
              </a:rPr>
              <a:t>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
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645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4A58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9C4CC"/>
                </a:solidFill>
                <a:latin typeface="DejaVu Sans Mono"/>
              </a:rPr>
              <a:t>SNOWFLAKE DCM · PROOF OF CONCEPT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E3B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4800" b="1">
                <a:solidFill>
                  <a:srgbClr val="FFFFFF"/>
                </a:solidFill>
                <a:latin typeface="DejaVu Sans"/>
              </a:rPr>
              <a:t>The database that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432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4800" b="1">
                <a:solidFill>
                  <a:srgbClr val="FFFFFF"/>
                </a:solidFill>
                <a:latin typeface="DejaVu Sans"/>
              </a:rPr>
              <a:t>couldn't see itself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3703320"/>
            <a:ext cx="685800" cy="3657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977639"/>
            <a:ext cx="6949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C4CED5"/>
                </a:solidFill>
                <a:latin typeface="DejaVu Sans"/>
              </a:rPr>
              <a:t>Our repo could always </a:t>
            </a:r>
            <a:r>
              <a:rPr sz="1800" b="1">
                <a:solidFill>
                  <a:srgbClr val="FFFFFF"/>
                </a:solidFill>
                <a:latin typeface="DejaVu Sans"/>
              </a:rPr>
              <a:t>build</a:t>
            </a:r>
            <a:r>
              <a:rPr sz="1800" b="0">
                <a:solidFill>
                  <a:srgbClr val="C4CED5"/>
                </a:solidFill>
                <a:latin typeface="DejaVu Sans"/>
              </a:rPr>
              <a:t> the database.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C4CED5"/>
                </a:solidFill>
                <a:latin typeface="DejaVu Sans"/>
              </a:rPr>
              <a:t>It could never prove the database still </a:t>
            </a:r>
            <a:r>
              <a:rPr sz="1800" b="1">
                <a:solidFill>
                  <a:srgbClr val="FFFFFF"/>
                </a:solidFill>
                <a:latin typeface="DejaVu Sans"/>
              </a:rPr>
              <a:t>matched</a:t>
            </a:r>
            <a:r>
              <a:rPr sz="1800" b="0">
                <a:solidFill>
                  <a:srgbClr val="C4CED5"/>
                </a:solidFill>
                <a:latin typeface="DejaVu Sans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53212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3B173"/>
                </a:solidFill>
                <a:latin typeface="DejaVu Sans Mono"/>
              </a:rPr>
              <a:t>8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tables   ·   </a:t>
            </a:r>
            <a:r>
              <a:rPr sz="1300" b="1">
                <a:solidFill>
                  <a:srgbClr val="E3B173"/>
                </a:solidFill>
                <a:latin typeface="DejaVu Sans Mono"/>
              </a:rPr>
              <a:t>53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columns   ·   </a:t>
            </a:r>
            <a:r>
              <a:rPr sz="1300" b="1">
                <a:solidFill>
                  <a:srgbClr val="E3B173"/>
                </a:solidFill>
                <a:latin typeface="DejaVu Sans Mono"/>
              </a:rPr>
              <a:t>13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findings   ·   personal account · Aug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7C8B95"/>
                </a:solidFill>
                <a:latin typeface="DejaVu Sans Mono"/>
              </a:rPr>
              <a:t>SCHEMA DRIFT, CAUGHT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C4CED5"/>
                </a:solidFill>
                <a:latin typeface="DejaVu Sans Mono"/>
              </a:rPr>
              <a:t>01</a:t>
            </a:r>
            <a:r>
              <a:rPr sz="950" b="0">
                <a:solidFill>
                  <a:srgbClr val="7C8B95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Our pipelines cannot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see</a:t>
            </a:r>
            <a:r>
              <a:rPr sz="3300" b="1">
                <a:solidFill>
                  <a:srgbClr val="25313A"/>
                </a:solidFill>
                <a:latin typeface="DejaVu Sans"/>
              </a:rPr>
              <a:t> the database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86000"/>
            <a:ext cx="102714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313A"/>
                </a:solidFill>
                <a:latin typeface="DejaVu Sans"/>
              </a:rPr>
              <a:t>70 </a:t>
            </a:r>
            <a:r>
              <a:rPr sz="1350" b="0">
                <a:solidFill>
                  <a:srgbClr val="36454F"/>
                </a:solidFill>
                <a:latin typeface="DejaVu Sans Mono"/>
              </a:rPr>
              <a:t>CREATE TABLE IF NOT EXISTS</a:t>
            </a:r>
            <a:r>
              <a:rPr sz="1500" b="0">
                <a:solidFill>
                  <a:srgbClr val="6C7B88"/>
                </a:solidFill>
                <a:latin typeface="DejaVu Sans"/>
              </a:rPr>
              <a:t> statements across 8 pipeline files. Against a table that already exists, that statement does nothing — and cannot look inside.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46120"/>
            <a:ext cx="2880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1288" y="3392424"/>
            <a:ext cx="2514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1 · created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1161288" y="3721608"/>
            <a:ext cx="2478024" cy="12801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61288" y="3849624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ID    VARCHAR(36)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" y="4105656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NAME  VARCHAR(200)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3246120"/>
            <a:ext cx="2880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4568" y="3392424"/>
            <a:ext cx="2514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2 · altered by hand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44568" y="3721608"/>
            <a:ext cx="2478024" cy="12801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3849624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ID    VARCHAR(36)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4105656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NAME  VARCHAR(200)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436168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SALARY VARCHAR(100)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26680" y="3246120"/>
            <a:ext cx="2880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3392424"/>
            <a:ext cx="2514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3 · re-run DDL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7848" y="3721608"/>
            <a:ext cx="2478024" cy="12801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7848" y="3849624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4B6650"/>
                </a:solidFill>
                <a:latin typeface="DejaVu Sans Mono"/>
              </a:rPr>
              <a:t>"already exists,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7848" y="4105656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4B6650"/>
                </a:solidFill>
                <a:latin typeface="DejaVu Sans Mono"/>
              </a:rPr>
              <a:t> statement succeeded"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436168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SALARY still there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840480" y="4091939"/>
            <a:ext cx="502920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223759" y="4091939"/>
            <a:ext cx="502921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60120" y="5166360"/>
            <a:ext cx="102714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Snowflake is honest — it says it did nothing. The defect is that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“did nothing” counts as success</a:t>
            </a:r>
            <a:r>
              <a:rPr sz="1300" b="0">
                <a:solidFill>
                  <a:srgbClr val="6C7B88"/>
                </a:solidFill>
                <a:latin typeface="DejaVu Sans"/>
              </a:rPr>
              <a:t>, and nothing compares the table to the declaration. It stays invisible because it is harmless.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PROBLEM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02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TWO GUARANTEES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Only one of these was ever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“repo” = the Matillion pipeline repo that holds the 70 DDL statements.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2834640"/>
            <a:ext cx="10058400" cy="50292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953512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DejaVu Sans Mono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2953512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DejaVu Sans Mono"/>
              </a:rPr>
              <a:t>BEFORE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2953512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DejaVu Sans Mono"/>
              </a:rPr>
              <a:t>WITH DCM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3893515"/>
            <a:ext cx="10058400" cy="10972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3864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25313A"/>
                </a:solidFill>
                <a:latin typeface="DejaVu Sans"/>
              </a:rPr>
              <a:t>The repo can build the database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3483864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3483864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3904488"/>
            <a:ext cx="10058400" cy="5669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0120" y="4460443"/>
            <a:ext cx="10058400" cy="10972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5079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25313A"/>
                </a:solidFill>
                <a:latin typeface="DejaVu Sans"/>
              </a:rPr>
              <a:t>The database still matches the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405079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8C3B2E"/>
                </a:solidFill>
                <a:latin typeface="DejaVu Sans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405079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8463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Two guarantees — only the first was ever true, and nothing could tell you the difference. Why we went looking: a dashboard dimension sat frozen for </a:t>
            </a:r>
            <a:r>
              <a:rPr sz="1350" b="1">
                <a:solidFill>
                  <a:srgbClr val="25313A"/>
                </a:solidFill>
                <a:latin typeface="DejaVu Sans"/>
              </a:rPr>
              <a:t>seven months</a:t>
            </a:r>
            <a:r>
              <a:rPr sz="1350" b="0">
                <a:solidFill>
                  <a:srgbClr val="6C7B88"/>
                </a:solidFill>
                <a:latin typeface="DejaVu Sans"/>
              </a:rPr>
              <a:t>. A different defect — a trailing comma an alert-then-succeed pattern hid — but the </a:t>
            </a:r>
            <a:r>
              <a:rPr sz="1350" b="1">
                <a:solidFill>
                  <a:srgbClr val="B26B12"/>
                </a:solidFill>
                <a:latin typeface="DejaVu Sans"/>
              </a:rPr>
              <a:t>same shape</a:t>
            </a:r>
            <a:r>
              <a:rPr sz="1350" b="0">
                <a:solidFill>
                  <a:srgbClr val="6C7B88"/>
                </a:solidFill>
                <a:latin typeface="DejaVu Sans"/>
              </a:rPr>
              <a:t>: something that looked like a check and never checked.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TWO GUARANTEES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03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DCM PROJECTS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Declare the state.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Snowflake finds the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difference</a:t>
            </a:r>
            <a:r>
              <a:rPr sz="3300" b="1">
                <a:solidFill>
                  <a:srgbClr val="25313A"/>
                </a:solidFill>
                <a:latin typeface="DejaVu Sans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00400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29184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DEFINE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26440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description of what should be true — not an instruction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3767328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85876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831336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dry run. changes nothing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334256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42569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DEPLOY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4398264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applies the changeset. a person's decision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074920"/>
            <a:ext cx="5303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8B3"/>
                </a:solidFill>
                <a:latin typeface="DejaVu Sans"/>
              </a:rPr>
              <a:t>Native to Snowflake · no external state file · GA since Aug 2026 · broad object coverage — </a:t>
            </a:r>
            <a:r>
              <a:rPr sz="1100" b="0">
                <a:solidFill>
                  <a:srgbClr val="9AA8B3"/>
                </a:solidFill>
                <a:latin typeface="DejaVu Sans Mono"/>
              </a:rPr>
              <a:t>TABLE · VIEW · TASK · ROLE</a:t>
            </a:r>
            <a:r>
              <a:rPr sz="1200" b="0">
                <a:solidFill>
                  <a:srgbClr val="9AA8B3"/>
                </a:solidFill>
                <a:latin typeface="DejaVu Sans"/>
              </a:rPr>
              <a:t> and more.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20840" y="3063240"/>
            <a:ext cx="4510735" cy="276834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720840" y="3063240"/>
            <a:ext cx="41148" cy="276834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3209544"/>
            <a:ext cx="4099255" cy="2494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DEFINE TABLE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 DEVELOP.PRE.DIM_PBI_CAPACITIES (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ID              VARCHAR(36)  </a:t>
            </a:r>
            <a:r>
              <a:rPr sz="1250" b="0">
                <a:solidFill>
                  <a:srgbClr val="6C7B88"/>
                </a:solidFill>
                <a:latin typeface="DejaVu Sans Mono"/>
              </a:rPr>
              <a:t>NOT NULL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NAME            VARCHAR(500),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SKU             VARCHAR(50),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IS_CURRENT_FLAG NUMBER(1,0)  </a:t>
            </a:r>
            <a:r>
              <a:rPr sz="1250" b="0">
                <a:solidFill>
                  <a:srgbClr val="6C7B88"/>
                </a:solidFill>
                <a:latin typeface="DejaVu Sans Mono"/>
              </a:rPr>
              <a:t>DEFAULT 1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);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-- remove this block, and the next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-- deploy drops the table.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WHAT DCM 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04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INFRASTRUCTURE AS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The DDL stops living inside the ETL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560320"/>
            <a:ext cx="4907127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788920"/>
            <a:ext cx="43584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AA8B3"/>
                </a:solidFill>
                <a:latin typeface="DejaVu Sans Mono"/>
              </a:rPr>
              <a:t>BEFORE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3419856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27048" y="3337560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DDL embedded in orchestration — 70 statements, 8 files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" y="3803904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27048" y="3721608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runs as a side effect of a data load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" y="4187952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27048" y="4105656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no review · no diff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" y="4572000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27048" y="4489704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C3B2E"/>
                </a:solidFill>
                <a:latin typeface="DejaVu Sans"/>
              </a:rPr>
              <a:t>drift is invisible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4447" y="2560320"/>
            <a:ext cx="4907127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4447" y="2560320"/>
            <a:ext cx="4907127" cy="3810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98767" y="2788920"/>
            <a:ext cx="43584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26B12"/>
                </a:solidFill>
                <a:latin typeface="DejaVu Sans Mono"/>
              </a:rPr>
              <a:t>AFTER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3419856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3337560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DDL in git, reviewed like application code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98767" y="3803904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1375" y="3721608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the plan shows impact before it lands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98767" y="4187952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1375" y="4105656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one command rebuilds an environment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98767" y="4572000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91375" y="4489704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B6650"/>
                </a:solidFill>
                <a:latin typeface="DejaVu Sans"/>
              </a:rPr>
              <a:t>drift becomes detectable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25780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database becomes a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build output</a:t>
            </a:r>
            <a:r>
              <a:rPr sz="1800" b="0">
                <a:solidFill>
                  <a:srgbClr val="36454F"/>
                </a:solidFill>
                <a:latin typeface="DejaVu Sans"/>
              </a:rPr>
              <a:t> — not a place things quietly accumulate.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INFRASTRUCTURE AS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05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PROJECT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The layout is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fixed</a:t>
            </a:r>
            <a:r>
              <a:rPr sz="3300" b="1">
                <a:solidFill>
                  <a:srgbClr val="25313A"/>
                </a:solidFill>
                <a:latin typeface="DejaVu Sans"/>
              </a:rPr>
              <a:t>, not a convention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514600"/>
            <a:ext cx="5120640" cy="1707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2514600"/>
            <a:ext cx="41148" cy="17078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60904"/>
            <a:ext cx="4709159" cy="1433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manifest.yml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which account · what varies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sources/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  definitions/</a:t>
            </a:r>
            <a:r>
              <a:rPr sz="1300" b="1">
                <a:solidFill>
                  <a:srgbClr val="B26B12"/>
                </a:solidFill>
                <a:latin typeface="DejaVu Sans Mono"/>
              </a:rPr>
              <a:t>      every object lives here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  macros/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   optional Jinja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out/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       generated artifacts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57200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6454F"/>
                </a:solidFill>
                <a:latin typeface="DejaVu Sans Mono"/>
              </a:rPr>
              <a:t>sources/definitions/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is required — files anywhere else are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not read</a:t>
            </a:r>
            <a:r>
              <a:rPr sz="1300" b="0">
                <a:solidFill>
                  <a:srgbClr val="6C7B88"/>
                </a:solidFill>
                <a:latin typeface="DejaVu Sans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2468880"/>
            <a:ext cx="46936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8B3"/>
                </a:solidFill>
                <a:latin typeface="DejaVu Sans Mono"/>
              </a:rPr>
              <a:t>THE MANIFEST — WHERE, AND WHAT VARIES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59" y="2788920"/>
            <a:ext cx="4693615" cy="24444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37959" y="2788920"/>
            <a:ext cx="41148" cy="24444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2935224"/>
            <a:ext cx="4282135" cy="2170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targets: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DCM_DEV: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account_identifier: ORG-ACCOUNT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project_name: …PBI_CAPACITIES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templating: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configurations: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DEV:  { env_suffix: "" }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PROD: { env_suffix: </a:t>
            </a:r>
            <a:r>
              <a:rPr sz="1200" b="1">
                <a:solidFill>
                  <a:srgbClr val="B26B12"/>
                </a:solidFill>
                <a:latin typeface="DejaVu Sans Mono"/>
              </a:rPr>
              <a:t>"_PROD"</a:t>
            </a:r>
            <a:r>
              <a:rPr sz="1200" b="0">
                <a:solidFill>
                  <a:srgbClr val="36454F"/>
                </a:solidFill>
                <a:latin typeface="DejaVu Sans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5074920"/>
            <a:ext cx="46936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Promotion is pointing at a different target.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You copy nothing.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PROJECT 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06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How it fits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468880"/>
            <a:ext cx="1828800" cy="86868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610612"/>
            <a:ext cx="1828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authoritative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1880" y="2468880"/>
            <a:ext cx="2103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2610612"/>
            <a:ext cx="21031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GIT REPOSITORY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account-level clone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37959" y="2468880"/>
            <a:ext cx="19202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2610612"/>
            <a:ext cx="1920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DCM PROJECT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history · artifacts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81160" y="2468880"/>
            <a:ext cx="1920240" cy="86868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81160" y="2610612"/>
            <a:ext cx="1920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Database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LND · STG · PRE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88920" y="2898648"/>
            <a:ext cx="804671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88920" y="25146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C7B88"/>
                </a:solidFill>
                <a:latin typeface="DejaVu Sans Mono"/>
              </a:rPr>
              <a:t>FETCH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715000" y="2898648"/>
            <a:ext cx="80467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458200" y="2743200"/>
            <a:ext cx="80467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75320" y="23591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6C7B88"/>
                </a:solidFill>
                <a:latin typeface="DejaVu Sans Mono"/>
              </a:rPr>
              <a:t>DEPLOY · writes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58200" y="3072384"/>
            <a:ext cx="804672" cy="0"/>
          </a:xfrm>
          <a:prstGeom prst="bentConnector3">
            <a:avLst/>
          </a:prstGeom>
          <a:ln w="17780">
            <a:prstDash val="dash"/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001000" y="31546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B26B12"/>
                </a:solidFill>
                <a:latin typeface="DejaVu Sans Mono"/>
              </a:rPr>
              <a:t>PLAN · reads only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59" y="4297680"/>
            <a:ext cx="1920240" cy="822960"/>
          </a:xfrm>
          <a:prstGeom prst="rect">
            <a:avLst/>
          </a:prstGeom>
          <a:solidFill>
            <a:srgbClr val="F6E9D6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59" y="4416552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8A5210"/>
                </a:solidFill>
                <a:latin typeface="DejaVu Sans Mono"/>
              </a:rPr>
              <a:t>Nightly task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8A5210"/>
                </a:solidFill>
                <a:latin typeface="DejaVu Sans Mono"/>
              </a:rPr>
              <a:t>05:00 · PLAN 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23960" y="4297680"/>
            <a:ext cx="1737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23960" y="4416552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Drift log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durable record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927080" y="4297680"/>
            <a:ext cx="1234440" cy="82296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27080" y="4416552"/>
            <a:ext cx="1234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Alert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on drift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498080" y="3337560"/>
            <a:ext cx="0" cy="94183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635240" y="361188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C7B88"/>
                </a:solidFill>
                <a:latin typeface="DejaVu Sans Mono"/>
              </a:rPr>
              <a:t>FETCH → PLAN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58200" y="4709160"/>
            <a:ext cx="34747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4709160"/>
            <a:ext cx="347472" cy="0"/>
          </a:xfrm>
          <a:prstGeom prst="bentConnector3">
            <a:avLst/>
          </a:prstGeom>
          <a:ln w="17780"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60120" y="548640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5313A"/>
                </a:solidFill>
                <a:latin typeface="DejaVu Sans"/>
              </a:rPr>
              <a:t>PLAN is automated; DEPLOY is not.</a:t>
            </a:r>
            <a:r>
              <a:rPr sz="1350" b="0">
                <a:solidFill>
                  <a:srgbClr val="6C7B88"/>
                </a:solidFill>
                <a:latin typeface="DejaVu Sans"/>
              </a:rPr>
              <a:t> The amber path only reads — safe nightly. The solid path writes, and drops columns to do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ARCHITECTURE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07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DISTINCTION PEOPLE MISS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4519" y="2468880"/>
            <a:ext cx="2194560" cy="82296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74519" y="2587752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authoritative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1148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302252"/>
            <a:ext cx="21945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GIT REPOSITORY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read by the task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1880" y="41148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4302252"/>
            <a:ext cx="21945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Workspace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26B12"/>
                </a:solidFill>
                <a:latin typeface="DejaVu Sans Mono"/>
              </a:rPr>
              <a:t>invisible to automation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874519" y="3291840"/>
            <a:ext cx="640081" cy="80467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00200" y="36118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FETCH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37560" y="3291840"/>
            <a:ext cx="822960" cy="80467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60520" y="36118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Pull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25780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8B3"/>
                </a:solidFill>
                <a:latin typeface="DejaVu Sans Mono"/>
              </a:rPr>
              <a:t>siblings — not parent &amp; child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31720"/>
            <a:ext cx="47850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Three copies.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017520"/>
            <a:ext cx="47850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All can be </a:t>
            </a:r>
            <a:r>
              <a:rPr sz="3000" b="1">
                <a:solidFill>
                  <a:srgbClr val="B26B12"/>
                </a:solidFill>
                <a:latin typeface="DejaVu Sans"/>
              </a:rPr>
              <a:t>stale</a:t>
            </a:r>
            <a:r>
              <a:rPr sz="3000" b="1">
                <a:solidFill>
                  <a:srgbClr val="25313A"/>
                </a:solidFill>
                <a:latin typeface="DejaVu Sans"/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3968496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39128" y="3886200"/>
            <a:ext cx="449244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GIT REPOSITORY is a snapshot, not a live link — FETCH or it is stale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4626864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9128" y="4544568"/>
            <a:ext cx="449244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workspace lives in your personal database; a scheduled task cannot read 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6520" y="5285231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39128" y="5202936"/>
            <a:ext cx="449244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5313A"/>
                </a:solidFill>
                <a:latin typeface="DejaVu Sans"/>
              </a:rPr>
              <a:t>GitHub is authoritative. The other two are caches.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THREE COPIES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08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WHY DRIFT DETECTION MUST EXIST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A change travels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one direction only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047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047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edit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008479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173071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73071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commit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343503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508095" y="3108960"/>
            <a:ext cx="1170432" cy="658368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8095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DejaVu Sans Mono"/>
              </a:rPr>
              <a:t>GitHub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78527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843119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3119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FETCH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13551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178143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8143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PLAN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48575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513167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13167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review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683599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848191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48191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DEPLOY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018623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0183215" y="3108960"/>
            <a:ext cx="1170432" cy="658368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83215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DejaVu Sans Mono"/>
              </a:rPr>
              <a:t>database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093311" y="3767328"/>
            <a:ext cx="6675120" cy="0"/>
          </a:xfrm>
          <a:prstGeom prst="bentConnector3">
            <a:avLst/>
          </a:prstGeom>
          <a:ln w="17780">
            <a:prstDash val="dash"/>
            <a:solidFill>
              <a:srgbClr val="B26B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6845655" y="4069080"/>
            <a:ext cx="274320" cy="18288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8047" y="41605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26B12"/>
                </a:solidFill>
                <a:latin typeface="DejaVu Sans"/>
              </a:rPr>
              <a:t>✕  no path back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48640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hand-made </a:t>
            </a:r>
            <a:r>
              <a:rPr sz="1200" b="0">
                <a:solidFill>
                  <a:srgbClr val="36454F"/>
                </a:solidFill>
                <a:latin typeface="DejaVu Sans Mono"/>
              </a:rPr>
              <a:t>ALTER</a:t>
            </a:r>
            <a:r>
              <a:rPr sz="1350" b="0">
                <a:solidFill>
                  <a:srgbClr val="6C7B88"/>
                </a:solidFill>
                <a:latin typeface="DejaVu Sans"/>
              </a:rPr>
              <a:t> never flows back into the repo. That asymmetry is exactly why the third question has to be asked at all.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ONE DIRECTION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09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SPINE OF THE WHOLE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Three questions. Git answers two.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651760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83464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2825496"/>
            <a:ext cx="615665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25313A"/>
                </a:solidFill>
                <a:latin typeface="DejaVu Sans"/>
              </a:rPr>
              <a:t>What changed in the definition?</a:t>
            </a:r>
          </a:p>
        </p:txBody>
      </p:sp>
      <p:sp>
        <p:nvSpPr>
          <p:cNvPr id="9" name="Rectangle 8"/>
          <p:cNvSpPr/>
          <p:nvPr/>
        </p:nvSpPr>
        <p:spPr>
          <a:xfrm>
            <a:off x="9128455" y="2852928"/>
            <a:ext cx="1737360" cy="310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28455" y="2926079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36454F"/>
                </a:solidFill>
                <a:latin typeface="DejaVu Sans Mono"/>
              </a:rPr>
              <a:t>git diff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3493008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675887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3666744"/>
            <a:ext cx="615665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25313A"/>
                </a:solidFill>
                <a:latin typeface="DejaVu Sans"/>
              </a:rPr>
              <a:t>What will change in the database?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8455" y="3694176"/>
            <a:ext cx="1737360" cy="310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8455" y="376732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36454F"/>
                </a:solidFill>
                <a:latin typeface="DejaVu Sans Mono"/>
              </a:rPr>
              <a:t>DCM PLAN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" y="4334256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" y="4334256"/>
            <a:ext cx="10271455" cy="3810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4517136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507992"/>
            <a:ext cx="615665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25313A"/>
                </a:solidFill>
                <a:latin typeface="DejaVu Sans"/>
              </a:rPr>
              <a:t>What changed without going through either?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8455" y="4535424"/>
            <a:ext cx="1737360" cy="310896"/>
          </a:xfrm>
          <a:prstGeom prst="rect">
            <a:avLst/>
          </a:prstGeom>
          <a:solidFill>
            <a:srgbClr val="F6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28455" y="460857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drift 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39496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third is the one we have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never been able to see.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THREE DIFFS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10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DRIFT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4519" y="2468880"/>
            <a:ext cx="21945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74519" y="2624328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PLAN compiles?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3657600"/>
            <a:ext cx="1737360" cy="685800"/>
          </a:xfrm>
          <a:prstGeom prst="rect">
            <a:avLst/>
          </a:prstGeom>
          <a:solidFill>
            <a:srgbClr val="F3E2DE"/>
          </a:solidFill>
          <a:ln w="12700">
            <a:solidFill>
              <a:srgbClr val="8C3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3707891"/>
            <a:ext cx="1737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8C3B2E"/>
                </a:solidFill>
                <a:latin typeface="DejaVu Sans Mono"/>
              </a:rPr>
              <a:t>ERROR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C3B2E"/>
                </a:solidFill>
                <a:latin typeface="DejaVu Sans Mono"/>
              </a:rPr>
              <a:t>un-revertible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1691640" y="3657600"/>
            <a:ext cx="2103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1640" y="3813048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5313A"/>
                </a:solidFill>
                <a:latin typeface="DejaVu Sans Mono"/>
              </a:rPr>
              <a:t>changeset empty?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4892040"/>
            <a:ext cx="1737360" cy="685800"/>
          </a:xfrm>
          <a:prstGeom prst="rect">
            <a:avLst/>
          </a:prstGeom>
          <a:solidFill>
            <a:srgbClr val="E7EDE8"/>
          </a:solidFill>
          <a:ln w="12700">
            <a:solidFill>
              <a:srgbClr val="4B6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942331"/>
            <a:ext cx="1737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4B6650"/>
                </a:solidFill>
                <a:latin typeface="DejaVu Sans Mono"/>
              </a:rPr>
              <a:t>CLEAN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4B6650"/>
                </a:solidFill>
                <a:latin typeface="DejaVu Sans Mono"/>
              </a:rPr>
              <a:t>matches repo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39" y="4892040"/>
            <a:ext cx="1737360" cy="685800"/>
          </a:xfrm>
          <a:prstGeom prst="rect">
            <a:avLst/>
          </a:prstGeom>
          <a:solidFill>
            <a:srgbClr val="F6E9D6"/>
          </a:solidFill>
          <a:ln w="12700">
            <a:solidFill>
              <a:srgbClr val="B26B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39" y="4942331"/>
            <a:ext cx="1737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B26B12"/>
                </a:solidFill>
                <a:latin typeface="DejaVu Sans Mono"/>
              </a:rPr>
              <a:t>DRIFT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B26B12"/>
                </a:solidFill>
                <a:latin typeface="DejaVu Sans Mono"/>
              </a:rPr>
              <a:t>names the column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69080" y="2743200"/>
            <a:ext cx="1005840" cy="89611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480560" y="3063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C3B2E"/>
                </a:solidFill>
                <a:latin typeface="DejaVu Sans Mono"/>
              </a:rPr>
              <a:t>no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2697480" y="3017520"/>
            <a:ext cx="91440" cy="62179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834639" y="32004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yes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1828800" y="4206240"/>
            <a:ext cx="320040" cy="66751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63040" y="44805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4B6650"/>
                </a:solidFill>
                <a:latin typeface="DejaVu Sans Mono"/>
              </a:rPr>
              <a:t>empty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154680" y="4206240"/>
            <a:ext cx="548640" cy="66751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66160" y="448056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26B12"/>
                </a:solidFill>
                <a:latin typeface="DejaVu Sans Mono"/>
              </a:rPr>
              <a:t>not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377440"/>
            <a:ext cx="46021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Three verdicts,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063240"/>
            <a:ext cx="46021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not two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886200"/>
            <a:ext cx="46021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two-state monitor — “changeset empty or not” — reads the worst case as a broken job.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29400" y="4617720"/>
            <a:ext cx="4602175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29400" y="4617720"/>
            <a:ext cx="41148" cy="128016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22008" y="4791456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B26B12"/>
                </a:solidFill>
                <a:latin typeface="DejaVu Sans Mono"/>
              </a:rPr>
              <a:t>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4882896"/>
            <a:ext cx="32305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9AA8B3"/>
                </a:solidFill>
                <a:latin typeface="DejaVu Sans"/>
              </a:rPr>
              <a:t>of 53</a:t>
            </a:r>
            <a:r>
              <a:rPr sz="1300" b="0">
                <a:solidFill>
                  <a:srgbClr val="36454F"/>
                </a:solidFill>
                <a:latin typeface="DejaVu Sans"/>
              </a:rPr>
              <a:t> columns are not the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36454F"/>
                </a:solidFill>
                <a:latin typeface="DejaVu Sans"/>
              </a:rPr>
              <a:t>last column in their table.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2008" y="5486400"/>
            <a:ext cx="4236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C7B88"/>
                </a:solidFill>
                <a:latin typeface="DejaVu Sans"/>
              </a:rPr>
              <a:t>Restoring one mid-list is a reorder Snowflake can't do — ERROR is the common case.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VERDICTS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11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IT RETURNS · WHAT SNOWFLAKE FORGETS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2700" b="1">
                <a:solidFill>
                  <a:srgbClr val="25313A"/>
                </a:solidFill>
                <a:latin typeface="DejaVu Sans"/>
              </a:rPr>
              <a:t>It names the column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148840"/>
            <a:ext cx="5212080" cy="14030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2148840"/>
            <a:ext cx="41148" cy="14030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95144"/>
            <a:ext cx="4800600" cy="1128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ALTER TABLE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 …PRE.DIM_PBI_CAPACITIES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columns: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    removed "HAND_ADDED_BY_A_HUMAN"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            VARCHAR(100), nullable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794760"/>
            <a:ext cx="5212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Not “a table differs.” The name, the type, and which way the fix runs — the difference between an alert worth waking for and one people mute.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1417320"/>
            <a:ext cx="46936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8B3"/>
                </a:solidFill>
                <a:latin typeface="DejaVu Sans Mono"/>
              </a:rPr>
              <a:t>MEASURED — 7+ PLANS, 4 DEPLOYS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59" y="1737360"/>
            <a:ext cx="4693615" cy="167614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37959" y="1737360"/>
            <a:ext cx="41148" cy="167614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1883664"/>
            <a:ext cx="4282135" cy="1401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SELECT PHASE, COUNT(*)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FROM DCM_DEPLOYMENT_HISTORY(…)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  PHASE     N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  DEPLOY    4</a:t>
            </a:r>
            <a:r>
              <a:rPr sz="1250" b="1">
                <a:solidFill>
                  <a:srgbClr val="B26B12"/>
                </a:solidFill>
                <a:latin typeface="DejaVu Sans Mono"/>
              </a:rPr>
              <a:t>   ← no PLAN rows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3566160"/>
            <a:ext cx="46936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"/>
              </a:rPr>
              <a:t>The drift check is the one thing Snowflake doesn't record.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Deployments keep 12-month artifacts; plans keep nothing, with no 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ACCOUNT_USAGE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view — so we keep our own log. It answers </a:t>
            </a:r>
            <a:r>
              <a:rPr sz="1300" b="1">
                <a:solidFill>
                  <a:srgbClr val="36454F"/>
                </a:solidFill>
                <a:latin typeface="DejaVu Sans"/>
              </a:rPr>
              <a:t>when did this drift start?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RECORD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12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WE FOUND BY BREAKING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Thirteen findings. Four from deliberate sabotage.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081528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97479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697479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Drift is detected and reported at column level — the verdict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3090672"/>
            <a:ext cx="10271455" cy="530352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0120" y="3611880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2278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227832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DCM records DEPLOY, never PLAN — an audit table is mandatory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142232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75818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758184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Dropping a column that is not last is un-revertible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" y="4151375"/>
            <a:ext cx="10271455" cy="530352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" y="4672583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2885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288536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Our own monitor sat suspended while its health view reported 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5202936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8188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4818888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Has now run unattended two consecutive nights, ~30s per 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48640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Every failure we found was something </a:t>
            </a:r>
            <a:r>
              <a:rPr sz="1700" b="1">
                <a:solidFill>
                  <a:srgbClr val="B26B12"/>
                </a:solidFill>
                <a:latin typeface="DejaVu Sans"/>
              </a:rPr>
              <a:t>reporting success without checking</a:t>
            </a:r>
            <a:r>
              <a:rPr sz="1700" b="0">
                <a:solidFill>
                  <a:srgbClr val="36454F"/>
                </a:solidFill>
                <a:latin typeface="DejaVu Sans"/>
              </a:rPr>
              <a:t> what it claimed to check.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FINDINGS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13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LIVE · END TO END · ~20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What we'll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6517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651760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CREATE TABLE IF NOT EXISTS succeeding against a table it never looked 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015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3401568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Build a project from nothing — scaffold, definitions, plan, deploy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15137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4151376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Push to git — the repo fills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901183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901183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Snowflake pulls its own copy; the plan agrees from both directions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26517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247" y="2651760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Add a table, push, fetch, deploy — a change travelling through git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0167" y="3355848"/>
            <a:ext cx="4861407" cy="658368"/>
          </a:xfrm>
          <a:prstGeom prst="rect">
            <a:avLst/>
          </a:prstGeom>
          <a:solidFill>
            <a:srgbClr val="F6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34015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26B12"/>
                </a:solidFill>
                <a:latin typeface="DejaVu Sans Mon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0247" y="3401568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6454F"/>
                </a:solidFill>
                <a:latin typeface="DejaVu Sans"/>
              </a:rPr>
              <a:t>Tamper by hand — GitHub shows nothing, the drift check names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415137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4151376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The un-revertible case, and why it changes the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14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HONEST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What it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not yet prove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82696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52728" y="3200400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One slice — 8 tables, 53 columns, no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3758183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52728" y="3675887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Untested at full-estate scale (52 tables)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4233672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52728" y="4151376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Data-quality gates (expectations) not yet used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709160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52728" y="4626864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Grants, tasks, streams not yet tested by 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5184648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2728" y="5102352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ERROR recovery rehearsed only on empty tables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3017520"/>
            <a:ext cx="10972" cy="2560320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78040" y="3200400"/>
            <a:ext cx="405353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database can now tell us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every morning</a:t>
            </a:r>
            <a:r>
              <a:rPr sz="1800" b="0">
                <a:solidFill>
                  <a:srgbClr val="36454F"/>
                </a:solidFill>
                <a:latin typeface="DejaVu Sans"/>
              </a:rPr>
              <a:t> whether it still matches the repo —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and name the column when it doesn't.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5212080"/>
            <a:ext cx="4053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8B3"/>
                </a:solidFill>
                <a:latin typeface="DejaVu Sans"/>
              </a:rPr>
              <a:t>Scheduled PLAN first — it's read-only. DEPLOY stays a human decision.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SCHEMA DRIFT, CAUGHT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15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
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9"/>
  </p:normalViewPr>
  <p:slideViewPr>
    <p:cSldViewPr snapToGrid="0" snapToObjects="1">
      <p:cViewPr varScale="1">
        <p:scale>
          <a:sx n="149" d="100"/>
          <a:sy n="149" d="100"/>
        </p:scale>
        <p:origin x="192" y="2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45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4A58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9C4CC"/>
                </a:solidFill>
                <a:latin typeface="DejaVu Sans Mono"/>
              </a:rPr>
              <a:t>SNOWFLAKE DCM · PROOF OF CONCEPT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E3B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4800" b="1">
                <a:solidFill>
                  <a:srgbClr val="FFFFFF"/>
                </a:solidFill>
                <a:latin typeface="DejaVu Sans"/>
              </a:rPr>
              <a:t>The database that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4800" b="1">
                <a:solidFill>
                  <a:srgbClr val="FFFFFF"/>
                </a:solidFill>
                <a:latin typeface="DejaVu Sans"/>
              </a:rPr>
              <a:t>couldn't see itself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3703320"/>
            <a:ext cx="685800" cy="3657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69494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4CED5"/>
                </a:solidFill>
                <a:latin typeface="DejaVu Sans"/>
              </a:rPr>
              <a:t>Our repo could always </a:t>
            </a:r>
            <a:r>
              <a:rPr sz="1800" b="1">
                <a:solidFill>
                  <a:srgbClr val="FFFFFF"/>
                </a:solidFill>
                <a:latin typeface="DejaVu Sans"/>
              </a:rPr>
              <a:t>build</a:t>
            </a:r>
            <a:r>
              <a:rPr sz="1800" b="0">
                <a:solidFill>
                  <a:srgbClr val="C4CED5"/>
                </a:solidFill>
                <a:latin typeface="DejaVu Sans"/>
              </a:rPr>
              <a:t> the database.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4CED5"/>
                </a:solidFill>
                <a:latin typeface="DejaVu Sans"/>
              </a:rPr>
              <a:t>It could never prove the database still </a:t>
            </a:r>
            <a:r>
              <a:rPr sz="1800" b="1">
                <a:solidFill>
                  <a:srgbClr val="FFFFFF"/>
                </a:solidFill>
                <a:latin typeface="DejaVu Sans"/>
              </a:rPr>
              <a:t>matched</a:t>
            </a:r>
            <a:r>
              <a:rPr sz="1800" b="0">
                <a:solidFill>
                  <a:srgbClr val="C4CED5"/>
                </a:solidFill>
                <a:latin typeface="DejaVu San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53212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3B173"/>
                </a:solidFill>
                <a:latin typeface="DejaVu Sans Mono"/>
              </a:rPr>
              <a:t>8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tables   ·   </a:t>
            </a:r>
            <a:r>
              <a:rPr sz="1300" b="1">
                <a:solidFill>
                  <a:srgbClr val="E3B173"/>
                </a:solidFill>
                <a:latin typeface="DejaVu Sans Mono"/>
              </a:rPr>
              <a:t>53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columns   ·   </a:t>
            </a:r>
            <a:r>
              <a:rPr sz="1300" b="1">
                <a:solidFill>
                  <a:srgbClr val="E3B173"/>
                </a:solidFill>
                <a:latin typeface="DejaVu Sans Mono"/>
              </a:rPr>
              <a:t>13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findings   ·   personal account · Aug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7C8B95"/>
                </a:solidFill>
                <a:latin typeface="DejaVu Sans Mono"/>
              </a:rPr>
              <a:t>SCHEMA DRIFT, CAUGHT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C4CED5"/>
                </a:solidFill>
                <a:latin typeface="DejaVu Sans Mono"/>
              </a:rPr>
              <a:t>01</a:t>
            </a:r>
            <a:r>
              <a:rPr sz="950" b="0">
                <a:solidFill>
                  <a:srgbClr val="7C8B95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Our pipelines cannot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see</a:t>
            </a:r>
            <a:r>
              <a:rPr sz="3300" b="1">
                <a:solidFill>
                  <a:srgbClr val="25313A"/>
                </a:solidFill>
                <a:latin typeface="DejaVu Sans"/>
              </a:rPr>
              <a:t> the 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1027145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313A"/>
                </a:solidFill>
                <a:latin typeface="DejaVu Sans"/>
              </a:rPr>
              <a:t>70 </a:t>
            </a:r>
            <a:r>
              <a:rPr sz="1350" b="0">
                <a:solidFill>
                  <a:srgbClr val="36454F"/>
                </a:solidFill>
                <a:latin typeface="DejaVu Sans Mono"/>
              </a:rPr>
              <a:t>CREATE TABLE IF NOT EXISTS</a:t>
            </a:r>
            <a:r>
              <a:rPr sz="1500" b="0">
                <a:solidFill>
                  <a:srgbClr val="6C7B88"/>
                </a:solidFill>
                <a:latin typeface="DejaVu Sans"/>
              </a:rPr>
              <a:t> statements across 8 pipeline files. Against a table that already exists, that statement does nothing — and cannot look inside.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61288" y="3392424"/>
            <a:ext cx="2514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1 · created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128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61288" y="3849624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ID    VARCHAR(36)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" y="4105656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NAME  VARCHAR(200)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44568" y="3392424"/>
            <a:ext cx="2514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2 · altered by hand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456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44568" y="3849624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ID    VARCHAR(36)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4105656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NAME  VARCHAR(200)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436168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SALARY VARCHAR(100)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668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27848" y="3392424"/>
            <a:ext cx="2514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3 · re-run DDL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784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927848" y="3849624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B6650"/>
                </a:solidFill>
                <a:latin typeface="DejaVu Sans Mono"/>
              </a:rPr>
              <a:t>"already exists,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7848" y="4105656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B6650"/>
                </a:solidFill>
                <a:latin typeface="DejaVu Sans Mono"/>
              </a:rPr>
              <a:t> statement succeeded"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436168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SALARY still there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840480" y="4091939"/>
            <a:ext cx="502920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223759" y="4091939"/>
            <a:ext cx="502921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60120" y="5166360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Snowflake is honest — it says it did nothing. The defect is that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“did nothing” counts as success</a:t>
            </a:r>
            <a:r>
              <a:rPr sz="1300" b="0">
                <a:solidFill>
                  <a:srgbClr val="6C7B88"/>
                </a:solidFill>
                <a:latin typeface="DejaVu Sans"/>
              </a:rPr>
              <a:t>, and nothing compares the table to the declaration. It stays invisible because it is harmless.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PROBLEM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02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TWO GUARANTEES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Only one of these was ever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“repo” = the Matillion pipeline repo that holds the 70 DDL statements.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2834640"/>
            <a:ext cx="10058400" cy="50292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953512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43800" y="2953512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2953512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>WITH DCM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893515"/>
            <a:ext cx="10058400" cy="10972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3483864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25313A"/>
                </a:solidFill>
                <a:latin typeface="DejaVu Sans"/>
              </a:rPr>
              <a:t>The repo can build the database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3483864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3483864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3904488"/>
            <a:ext cx="10058400" cy="5669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60120" y="4460443"/>
            <a:ext cx="10058400" cy="10972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3000" y="4050792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25313A"/>
                </a:solidFill>
                <a:latin typeface="DejaVu Sans"/>
              </a:rPr>
              <a:t>The database still matches the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050792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8C3B2E"/>
                </a:solidFill>
                <a:latin typeface="DejaVu Sans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050792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846320"/>
            <a:ext cx="10271455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Two guarantees — only the first was ever true, and nothing could tell you the difference. Why we went looking: a dashboard dimension sat frozen for </a:t>
            </a:r>
            <a:r>
              <a:rPr sz="1350" b="1">
                <a:solidFill>
                  <a:srgbClr val="25313A"/>
                </a:solidFill>
                <a:latin typeface="DejaVu Sans"/>
              </a:rPr>
              <a:t>seven months</a:t>
            </a:r>
            <a:r>
              <a:rPr sz="1350" b="0">
                <a:solidFill>
                  <a:srgbClr val="6C7B88"/>
                </a:solidFill>
                <a:latin typeface="DejaVu Sans"/>
              </a:rPr>
              <a:t>. A different defect — a trailing comma an alert-then-succeed pattern hid — but the </a:t>
            </a:r>
            <a:r>
              <a:rPr sz="1350" b="1">
                <a:solidFill>
                  <a:srgbClr val="B26B12"/>
                </a:solidFill>
                <a:latin typeface="DejaVu Sans"/>
              </a:rPr>
              <a:t>same shape</a:t>
            </a:r>
            <a:r>
              <a:rPr sz="1350" b="0">
                <a:solidFill>
                  <a:srgbClr val="6C7B88"/>
                </a:solidFill>
                <a:latin typeface="DejaVu Sans"/>
              </a:rPr>
              <a:t>: something that looked like a check and never checked.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TWO GUARANTEES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03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DCM PROJECTS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Declare the state.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Snowflake finds the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difference</a:t>
            </a:r>
            <a:r>
              <a:rPr sz="3300" b="1">
                <a:solidFill>
                  <a:srgbClr val="25313A"/>
                </a:solidFill>
                <a:latin typeface="DejaVu Sans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00400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329184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DEFINE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264408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description of what should be true — not an instruction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3767328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38587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831336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dry run. changes nothing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334256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4425696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DEPLOY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4398264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applies the changeset. a person's decision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074920"/>
            <a:ext cx="5303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8B3"/>
                </a:solidFill>
                <a:latin typeface="DejaVu Sans"/>
              </a:rPr>
              <a:t>Native to Snowflake · no external state file · GA since Aug 2026 · broad object coverage — </a:t>
            </a:r>
            <a:r>
              <a:rPr sz="1100" b="0">
                <a:solidFill>
                  <a:srgbClr val="9AA8B3"/>
                </a:solidFill>
                <a:latin typeface="DejaVu Sans Mono"/>
              </a:rPr>
              <a:t>TABLE · VIEW · TASK · ROLE</a:t>
            </a:r>
            <a:r>
              <a:rPr sz="1200" b="0">
                <a:solidFill>
                  <a:srgbClr val="9AA8B3"/>
                </a:solidFill>
                <a:latin typeface="DejaVu Sans"/>
              </a:rPr>
              <a:t> and more.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0840" y="3063240"/>
            <a:ext cx="4510735" cy="276834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720840" y="3063240"/>
            <a:ext cx="41148" cy="276834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49440" y="3209544"/>
            <a:ext cx="4099255" cy="2494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DEFINE TABLE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 DEVELOP.PRE.DIM_PBI_CAPACITIES (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ID              VARCHAR(36)  </a:t>
            </a:r>
            <a:r>
              <a:rPr sz="1250" b="0">
                <a:solidFill>
                  <a:srgbClr val="6C7B88"/>
                </a:solidFill>
                <a:latin typeface="DejaVu Sans Mono"/>
              </a:rPr>
              <a:t>NOT NULL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NAME            VARCHAR(500),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SKU             VARCHAR(50),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IS_CURRENT_FLAG NUMBER(1,0)  </a:t>
            </a:r>
            <a:r>
              <a:rPr sz="1250" b="0">
                <a:solidFill>
                  <a:srgbClr val="6C7B88"/>
                </a:solidFill>
                <a:latin typeface="DejaVu Sans Mono"/>
              </a:rPr>
              <a:t>DEFAULT 1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);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endParaRPr sz="1250" b="0">
              <a:solidFill>
                <a:srgbClr val="36454F"/>
              </a:solidFill>
              <a:latin typeface="DejaVu Sans Mono"/>
            </a:endParaRP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-- remove this block, and the next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-- deploy drops the table.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WHAT DCM 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04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INFRASTRUCTURE AS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The DDL stops living inside the ETL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60320"/>
            <a:ext cx="4907127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88920"/>
            <a:ext cx="43584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AA8B3"/>
                </a:solidFill>
                <a:latin typeface="DejaVu Sans Mono"/>
              </a:rPr>
              <a:t>BEFORE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3419856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527048" y="3337560"/>
            <a:ext cx="40658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DDL embedded in orchestration — 70 statements, 8 files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3803904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27048" y="3721608"/>
            <a:ext cx="40658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runs as a side effect of a data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" y="4187952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27048" y="4105656"/>
            <a:ext cx="40658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no review · no diff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" y="4572000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27048" y="4489704"/>
            <a:ext cx="40658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C3B2E"/>
                </a:solidFill>
                <a:latin typeface="DejaVu Sans"/>
              </a:rPr>
              <a:t>drift is invisible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560320"/>
            <a:ext cx="4907127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24447" y="2560320"/>
            <a:ext cx="4907127" cy="3810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98767" y="2788920"/>
            <a:ext cx="43584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26B12"/>
                </a:solidFill>
                <a:latin typeface="DejaVu Sans Mono"/>
              </a:rPr>
              <a:t>AFTER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3419856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91375" y="3337560"/>
            <a:ext cx="40658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DDL in git, reviewed like application code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98767" y="3803904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91375" y="3721608"/>
            <a:ext cx="40658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the plan shows impact before it lands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98767" y="4187952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91375" y="4105656"/>
            <a:ext cx="40658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one command rebuilds an environment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98767" y="4572000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91375" y="4489704"/>
            <a:ext cx="4065879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B6650"/>
                </a:solidFill>
                <a:latin typeface="DejaVu Sans"/>
              </a:rPr>
              <a:t>drift becomes detectable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257800"/>
            <a:ext cx="1027145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database becomes a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build output</a:t>
            </a:r>
            <a:r>
              <a:rPr sz="1800" b="0">
                <a:solidFill>
                  <a:srgbClr val="36454F"/>
                </a:solidFill>
                <a:latin typeface="DejaVu Sans"/>
              </a:rPr>
              <a:t> — not a place things quietly accumulate.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INFRASTRUCTURE AS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05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PROJECT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The layout is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fixed</a:t>
            </a:r>
            <a:r>
              <a:rPr sz="3300" b="1">
                <a:solidFill>
                  <a:srgbClr val="25313A"/>
                </a:solidFill>
                <a:latin typeface="DejaVu Sans"/>
              </a:rPr>
              <a:t>, not a convention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14600"/>
            <a:ext cx="5120640" cy="1707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60120" y="2514600"/>
            <a:ext cx="41148" cy="17078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2660904"/>
            <a:ext cx="4709159" cy="1433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manifest.yml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which account · what varies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sources/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  definitions/</a:t>
            </a:r>
            <a:r>
              <a:rPr sz="1300" b="1">
                <a:solidFill>
                  <a:srgbClr val="B26B12"/>
                </a:solidFill>
                <a:latin typeface="DejaVu Sans Mono"/>
              </a:rPr>
              <a:t>      every object lives here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  macros/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   optional Jinja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out/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       generated artifacts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572000"/>
            <a:ext cx="5120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6454F"/>
                </a:solidFill>
                <a:latin typeface="DejaVu Sans Mono"/>
              </a:rPr>
              <a:t>sources/definitions/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is required — files anywhere else are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not read</a:t>
            </a:r>
            <a:r>
              <a:rPr sz="1300" b="0">
                <a:solidFill>
                  <a:srgbClr val="6C7B88"/>
                </a:solidFill>
                <a:latin typeface="DejaVu San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468880"/>
            <a:ext cx="46936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THE MANIFEST — WHERE, AND WHAT VARIES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59" y="2788920"/>
            <a:ext cx="4693615" cy="24444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37959" y="2788920"/>
            <a:ext cx="41148" cy="24444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59" y="2935224"/>
            <a:ext cx="4282135" cy="2170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targets: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DCM_DEV: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account_identifier: ORG-ACCOUNT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project_name: …PBI_CAPACITIES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templating: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configurations: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DEV:  { env_suffix: </a:t>
            </a:r>
            <a:r>
              <a:rPr sz="1200" b="1">
                <a:solidFill>
                  <a:srgbClr val="B26B12"/>
                </a:solidFill>
                <a:latin typeface="DejaVu Sans Mono"/>
              </a:rPr>
              <a:t>"_DEV"</a:t>
            </a:r>
            <a:r>
              <a:rPr sz="1200" b="0">
                <a:solidFill>
                  <a:srgbClr val="36454F"/>
                </a:solidFill>
                <a:latin typeface="DejaVu Sans Mono"/>
              </a:rPr>
              <a:t> }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PROD: { env_suffix: </a:t>
            </a:r>
            <a:r>
              <a:rPr sz="1200" b="1">
                <a:solidFill>
                  <a:srgbClr val="B26B12"/>
                </a:solidFill>
                <a:latin typeface="DejaVu Sans Mono"/>
              </a:rPr>
              <a:t>"_PROD"</a:t>
            </a:r>
            <a:r>
              <a:rPr sz="1200" b="0">
                <a:solidFill>
                  <a:srgbClr val="36454F"/>
                </a:solidFill>
                <a:latin typeface="DejaVu Sans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5349240"/>
            <a:ext cx="469361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Promotion is pointing at a different target.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You copy nothing.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PROJECT 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06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How it fits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468880"/>
            <a:ext cx="173736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610612"/>
            <a:ext cx="1737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authoritative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246888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37560" y="2610612"/>
            <a:ext cx="19659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GIT REPOSITORY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account clone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468880"/>
            <a:ext cx="1828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97880" y="2610612"/>
            <a:ext cx="1828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DCM PROJECT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history · artifacts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2468880"/>
            <a:ext cx="228600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2610612"/>
            <a:ext cx="2286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PROD database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…_PROD · from git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97480" y="2898648"/>
            <a:ext cx="6217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651760" y="252374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6C7B88"/>
                </a:solidFill>
                <a:latin typeface="DejaVu Sans Mono"/>
              </a:rPr>
              <a:t>FETCH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03520" y="2898648"/>
            <a:ext cx="57607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726680" y="2761488"/>
            <a:ext cx="66751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38644" y="224028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0" dirty="0">
                <a:solidFill>
                  <a:srgbClr val="6C7B88"/>
                </a:solidFill>
                <a:latin typeface="DejaVu Sans Mono"/>
              </a:rPr>
              <a:t>DEPLOY · from git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26680" y="3054096"/>
            <a:ext cx="667512" cy="0"/>
          </a:xfrm>
          <a:prstGeom prst="bentConnector3">
            <a:avLst/>
          </a:prstGeom>
          <a:ln w="17780"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55080" y="312724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B26B12"/>
                </a:solidFill>
                <a:latin typeface="DejaVu Sans Mono"/>
              </a:rPr>
              <a:t>PLAN · reads only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97880" y="4343400"/>
            <a:ext cx="1828800" cy="822960"/>
          </a:xfrm>
          <a:prstGeom prst="rect">
            <a:avLst/>
          </a:prstGeom>
          <a:solidFill>
            <a:srgbClr val="F6E9D6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97880" y="4462272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8A5210"/>
                </a:solidFill>
                <a:latin typeface="DejaVu Sans Mono"/>
              </a:rPr>
              <a:t>Nightly task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8A5210"/>
                </a:solidFill>
                <a:latin typeface="DejaVu Sans Mono"/>
              </a:rPr>
              <a:t>05:00 · PLAN 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1000" y="4343400"/>
            <a:ext cx="1554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01000" y="4462272"/>
            <a:ext cx="15544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Drift log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durable record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80" y="4343400"/>
            <a:ext cx="1280160" cy="82296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784080" y="4462272"/>
            <a:ext cx="12801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DejaVu Sans Mono"/>
              </a:rPr>
              <a:t>Alert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if not CLEAN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12280" y="3337560"/>
            <a:ext cx="0" cy="98755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49440" y="3685032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6C7B88"/>
                </a:solidFill>
                <a:latin typeface="DejaVu Sans Mono"/>
              </a:rPr>
              <a:t>FETCH → PLAN vs git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726680" y="4754880"/>
            <a:ext cx="25603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555480" y="4754880"/>
            <a:ext cx="210312" cy="0"/>
          </a:xfrm>
          <a:prstGeom prst="bentConnector3">
            <a:avLst/>
          </a:prstGeom>
          <a:ln w="17780"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60120" y="5440680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Dev deploys from the workspace (next slide);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prod is deployed from git</a:t>
            </a:r>
            <a:r>
              <a:rPr sz="1300" b="0">
                <a:solidFill>
                  <a:srgbClr val="6C7B88"/>
                </a:solidFill>
                <a:latin typeface="DejaVu Sans"/>
              </a:rPr>
              <a:t>, and the nightly check watches prod. PLAN is automated; DEPLOY is a human decision — it drops columns to revert.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ARCHITECTURE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07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DISTINCTION PEOPLE MISS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19" y="2468880"/>
            <a:ext cx="2194560" cy="82296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74519" y="2587752"/>
            <a:ext cx="2194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authoritative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1148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4302252"/>
            <a:ext cx="21945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GIT REPOSITORY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read by the task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1880" y="41148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11880" y="4302252"/>
            <a:ext cx="21945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Workspace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26B12"/>
                </a:solidFill>
                <a:latin typeface="DejaVu Sans Mono"/>
              </a:rPr>
              <a:t>invisible to automation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74519" y="3291840"/>
            <a:ext cx="640081" cy="8046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00200" y="36118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FETCH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37560" y="3291840"/>
            <a:ext cx="822960" cy="8046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60520" y="36118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Pull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25780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8B3"/>
                </a:solidFill>
                <a:latin typeface="DejaVu Sans Mono"/>
              </a:rPr>
              <a:t>siblings — not parent &amp; child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31720"/>
            <a:ext cx="47850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Three copies.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017520"/>
            <a:ext cx="47850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All can be </a:t>
            </a:r>
            <a:r>
              <a:rPr sz="3000" b="1">
                <a:solidFill>
                  <a:srgbClr val="B26B12"/>
                </a:solidFill>
                <a:latin typeface="DejaVu Sans"/>
              </a:rPr>
              <a:t>stale</a:t>
            </a:r>
            <a:r>
              <a:rPr sz="3000" b="1">
                <a:solidFill>
                  <a:srgbClr val="25313A"/>
                </a:solidFill>
                <a:latin typeface="DejaVu Sans"/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3968496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39128" y="3886200"/>
            <a:ext cx="4492447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GIT REPOSITORY is a snapshot, not a live link — FETCH or it is stale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4626864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39128" y="4544568"/>
            <a:ext cx="4492447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workspace lives in your personal database; a scheduled task cannot read 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5285231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39128" y="5202936"/>
            <a:ext cx="4492447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5313A"/>
                </a:solidFill>
                <a:latin typeface="DejaVu Sans"/>
              </a:rPr>
              <a:t>GitHub is authoritative. The other two are caches.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THREE COPIES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08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WHY DRIFT DETECTION MUST EXIST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A change travels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one direction only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047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8047" y="3319272"/>
            <a:ext cx="117043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edit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08479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173071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73071" y="3319272"/>
            <a:ext cx="117043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commit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43503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508095" y="3108960"/>
            <a:ext cx="1170432" cy="658368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08095" y="3319272"/>
            <a:ext cx="117043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DejaVu Sans Mono"/>
              </a:rPr>
              <a:t>GitHub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78527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843119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43119" y="3319272"/>
            <a:ext cx="117043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FETCH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13551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178143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78143" y="3319272"/>
            <a:ext cx="117043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PLAN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48575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513167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513167" y="3319272"/>
            <a:ext cx="117043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review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83599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848191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48191" y="3319272"/>
            <a:ext cx="117043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DEPLOY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18623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0183215" y="3108960"/>
            <a:ext cx="1170432" cy="658368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183215" y="3319272"/>
            <a:ext cx="117043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DejaVu Sans Mono"/>
              </a:rPr>
              <a:t>database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093311" y="3767328"/>
            <a:ext cx="6675120" cy="0"/>
          </a:xfrm>
          <a:prstGeom prst="bentConnector3">
            <a:avLst/>
          </a:prstGeom>
          <a:ln w="17780"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845655" y="4069080"/>
            <a:ext cx="274320" cy="18288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8047" y="41605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26B12"/>
                </a:solidFill>
                <a:latin typeface="DejaVu Sans"/>
              </a:rPr>
              <a:t>✕  no path 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hand-made </a:t>
            </a:r>
            <a:r>
              <a:rPr sz="1200" b="0">
                <a:solidFill>
                  <a:srgbClr val="36454F"/>
                </a:solidFill>
                <a:latin typeface="DejaVu Sans Mono"/>
              </a:rPr>
              <a:t>ALTER</a:t>
            </a:r>
            <a:r>
              <a:rPr sz="1350" b="0">
                <a:solidFill>
                  <a:srgbClr val="6C7B88"/>
                </a:solidFill>
                <a:latin typeface="DejaVu Sans"/>
              </a:rPr>
              <a:t> never flows back into the repo. That asymmetry is exactly why the third question has to be asked at all.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ONE DIRECTION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09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HOW A DEVELOPER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Dev fast.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Prod from git.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337560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3433572"/>
            <a:ext cx="20116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workspace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where I edit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4617720" y="2468880"/>
            <a:ext cx="2286000" cy="73152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17720" y="2542032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DejaVu Sans Mono"/>
              </a:rPr>
              <a:t>DEMO_PBI_DEV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fast · no gate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4160520"/>
            <a:ext cx="22860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17720" y="4233672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git · main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commit · PR · review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49640" y="4160520"/>
            <a:ext cx="2743200" cy="731520"/>
          </a:xfrm>
          <a:prstGeom prst="rect">
            <a:avLst/>
          </a:prstGeom>
          <a:solidFill>
            <a:srgbClr val="F6E9D6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49640" y="4233672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8A5210"/>
                </a:solidFill>
                <a:latin typeface="DejaVu Sans Mono"/>
              </a:rPr>
              <a:t>DEMO_PBI_PROD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8A5210"/>
                </a:solidFill>
                <a:latin typeface="DejaVu Sans Mono"/>
              </a:rPr>
              <a:t>reviewed · reproducible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2971800" y="2880360"/>
            <a:ext cx="1627632" cy="64008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834640" y="3003804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dirty="0">
                <a:solidFill>
                  <a:srgbClr val="6C7B88"/>
                </a:solidFill>
                <a:latin typeface="DejaVu Sans Mono"/>
              </a:rPr>
              <a:t>Deploy · DEV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71800" y="3749039"/>
            <a:ext cx="1627632" cy="640081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200400" y="41148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push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03720" y="4526280"/>
            <a:ext cx="1627632" cy="0"/>
          </a:xfrm>
          <a:prstGeom prst="bentConnector3">
            <a:avLst/>
          </a:prstGeom>
          <a:ln w="17780"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702552" y="3922776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dirty="0">
                <a:solidFill>
                  <a:srgbClr val="B26B12"/>
                </a:solidFill>
                <a:latin typeface="DejaVu Sans Mono"/>
              </a:rPr>
              <a:t>DEPLOY USING CONFIGURATION PROD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5486400"/>
            <a:ext cx="102714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Same files build both — 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env_suffix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is the only difference. Prod is deployed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from git, never the workspace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— so git and prod agree by construction, and the drift check stays honest.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PROMOTION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10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SPINE OF THE WHOLE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Three questions. Git answers two.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651760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80160" y="283464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2825496"/>
            <a:ext cx="615665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25313A"/>
                </a:solidFill>
                <a:latin typeface="DejaVu Sans"/>
              </a:rPr>
              <a:t>What changed in the definition?</a:t>
            </a:r>
          </a:p>
        </p:txBody>
      </p:sp>
      <p:sp>
        <p:nvSpPr>
          <p:cNvPr id="9" name="Rectangle 8"/>
          <p:cNvSpPr/>
          <p:nvPr/>
        </p:nvSpPr>
        <p:spPr>
          <a:xfrm>
            <a:off x="9128455" y="2852928"/>
            <a:ext cx="1737360" cy="310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28455" y="2926079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36454F"/>
                </a:solidFill>
                <a:latin typeface="DejaVu Sans Mono"/>
              </a:rPr>
              <a:t>git diff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493008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80160" y="3675887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3666744"/>
            <a:ext cx="615665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25313A"/>
                </a:solidFill>
                <a:latin typeface="DejaVu Sans"/>
              </a:rPr>
              <a:t>What will change in the database?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8455" y="3694176"/>
            <a:ext cx="1737360" cy="310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28455" y="376732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36454F"/>
                </a:solidFill>
                <a:latin typeface="DejaVu Sans Mono"/>
              </a:rPr>
              <a:t>DCM PLAN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4334256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60120" y="4334256"/>
            <a:ext cx="10271455" cy="3810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80160" y="4517136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507992"/>
            <a:ext cx="615665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5313A"/>
                </a:solidFill>
                <a:latin typeface="DejaVu Sans"/>
              </a:rPr>
              <a:t>What changed without going through either?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8455" y="4535424"/>
            <a:ext cx="1737360" cy="310896"/>
          </a:xfrm>
          <a:prstGeom prst="rect">
            <a:avLst/>
          </a:prstGeom>
          <a:solidFill>
            <a:srgbClr val="F6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28455" y="460857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drift 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394960"/>
            <a:ext cx="1027145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third is the one we have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never been able to see.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THREE DIFFS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11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DRIFT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19" y="2468880"/>
            <a:ext cx="21945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74519" y="2624328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PLAN compiles?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3657600"/>
            <a:ext cx="1737360" cy="685800"/>
          </a:xfrm>
          <a:prstGeom prst="rect">
            <a:avLst/>
          </a:prstGeom>
          <a:solidFill>
            <a:srgbClr val="F3E2DE"/>
          </a:solidFill>
          <a:ln w="12700">
            <a:solidFill>
              <a:srgbClr val="8C3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34840" y="3707891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8C3B2E"/>
                </a:solidFill>
                <a:latin typeface="DejaVu Sans Mono"/>
              </a:rPr>
              <a:t>ERROR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C3B2E"/>
                </a:solidFill>
                <a:latin typeface="DejaVu Sans Mono"/>
              </a:rPr>
              <a:t>un-revertible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1691640" y="3657600"/>
            <a:ext cx="2103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91640" y="3813048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5313A"/>
                </a:solidFill>
                <a:latin typeface="DejaVu Sans Mono"/>
              </a:rPr>
              <a:t>changeset empty?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4892040"/>
            <a:ext cx="1737360" cy="685800"/>
          </a:xfrm>
          <a:prstGeom prst="rect">
            <a:avLst/>
          </a:prstGeom>
          <a:solidFill>
            <a:srgbClr val="E7EDE8"/>
          </a:solidFill>
          <a:ln w="12700">
            <a:solidFill>
              <a:srgbClr val="4B6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4942331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4B6650"/>
                </a:solidFill>
                <a:latin typeface="DejaVu Sans Mono"/>
              </a:rPr>
              <a:t>CLEAN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4B6650"/>
                </a:solidFill>
                <a:latin typeface="DejaVu Sans Mono"/>
              </a:rPr>
              <a:t>matches repo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39" y="4892040"/>
            <a:ext cx="1737360" cy="685800"/>
          </a:xfrm>
          <a:prstGeom prst="rect">
            <a:avLst/>
          </a:prstGeom>
          <a:solidFill>
            <a:srgbClr val="F6E9D6"/>
          </a:solidFill>
          <a:ln w="12700">
            <a:solidFill>
              <a:srgbClr val="B26B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63239" y="4942331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B26B12"/>
                </a:solidFill>
                <a:latin typeface="DejaVu Sans Mono"/>
              </a:rPr>
              <a:t>DRIFT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B26B12"/>
                </a:solidFill>
                <a:latin typeface="DejaVu Sans Mono"/>
              </a:rPr>
              <a:t>names the column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69080" y="2743200"/>
            <a:ext cx="1005840" cy="8961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80560" y="3063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C3B2E"/>
                </a:solidFill>
                <a:latin typeface="DejaVu Sans Mono"/>
              </a:rPr>
              <a:t>no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2697480" y="3017520"/>
            <a:ext cx="91440" cy="62179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834639" y="32004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1828800" y="4206240"/>
            <a:ext cx="320040" cy="6675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63040" y="448056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4B6650"/>
                </a:solidFill>
                <a:latin typeface="DejaVu Sans Mono"/>
              </a:rPr>
              <a:t>empty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54680" y="4206240"/>
            <a:ext cx="548640" cy="6675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66160" y="44805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26B12"/>
                </a:solidFill>
                <a:latin typeface="DejaVu Sans Mono"/>
              </a:rPr>
              <a:t>not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377440"/>
            <a:ext cx="46021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Three verdicts,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063240"/>
            <a:ext cx="46021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not two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886200"/>
            <a:ext cx="460217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two-state monitor — “changeset empty or not” — reads the worst case as a broken job.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29400" y="4617720"/>
            <a:ext cx="460217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629400" y="4617720"/>
            <a:ext cx="41148" cy="128016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22008" y="4791456"/>
            <a:ext cx="1188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B26B12"/>
                </a:solidFill>
                <a:latin typeface="DejaVu Sans Mono"/>
              </a:rPr>
              <a:t>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4882896"/>
            <a:ext cx="32305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9AA8B3"/>
                </a:solidFill>
                <a:latin typeface="DejaVu Sans"/>
              </a:rPr>
              <a:t>of 53</a:t>
            </a:r>
            <a:r>
              <a:rPr sz="1300" b="0">
                <a:solidFill>
                  <a:srgbClr val="36454F"/>
                </a:solidFill>
                <a:latin typeface="DejaVu Sans"/>
              </a:rPr>
              <a:t> columns are not the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36454F"/>
                </a:solidFill>
                <a:latin typeface="DejaVu Sans"/>
              </a:rPr>
              <a:t>last column in their table.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5486400"/>
            <a:ext cx="4236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C7B88"/>
                </a:solidFill>
                <a:latin typeface="DejaVu Sans"/>
              </a:rPr>
              <a:t>Restoring one mid-list is a reorder Snowflake can't do — ERROR is the common case.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VERDICTS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12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IT RETURNS · WHAT SNOWFLAKE FORGETS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2700" b="1">
                <a:solidFill>
                  <a:srgbClr val="25313A"/>
                </a:solidFill>
                <a:latin typeface="DejaVu Sans"/>
              </a:rPr>
              <a:t>It names the column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148840"/>
            <a:ext cx="5212080" cy="14030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60120" y="2148840"/>
            <a:ext cx="41148" cy="14030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2295144"/>
            <a:ext cx="4800600" cy="1128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ALTER TABLE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 …PRE.DIM_PBI_CAPACITIES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columns: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    removed "HAND_ADDED_BY_A_HUMAN"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            VARCHAR(100), nullable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94760"/>
            <a:ext cx="5212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Not “a table differs.” The name, the type, and which way the fix runs — the difference between an alert worth waking for and one people mute.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1417320"/>
            <a:ext cx="46936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MEASURED — 7+ PLANS, 4 DEPLOYS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59" y="1737360"/>
            <a:ext cx="4693615" cy="167614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37959" y="1737360"/>
            <a:ext cx="41148" cy="167614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59" y="1883664"/>
            <a:ext cx="4282135" cy="1401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SELECT PHASE, COUNT(*)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FROM DCM_DEPLOYMENT_HISTORY(…)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endParaRPr sz="1250" b="0">
              <a:solidFill>
                <a:srgbClr val="36454F"/>
              </a:solidFill>
              <a:latin typeface="DejaVu Sans Mono"/>
            </a:endParaRP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  PHASE     N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  DEPLOY    4</a:t>
            </a:r>
            <a:r>
              <a:rPr sz="1250" b="1">
                <a:solidFill>
                  <a:srgbClr val="B26B12"/>
                </a:solidFill>
                <a:latin typeface="DejaVu Sans Mono"/>
              </a:rPr>
              <a:t>   ← no PLAN 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3566160"/>
            <a:ext cx="4693615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"/>
              </a:rPr>
              <a:t>The drift check is the one thing Snowflake doesn't record.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Deployments keep 12-month artifacts; plans keep nothing, with no 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ACCOUNT_USAGE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view — so we keep our own log. It answers </a:t>
            </a:r>
            <a:r>
              <a:rPr sz="1300" b="1">
                <a:solidFill>
                  <a:srgbClr val="36454F"/>
                </a:solidFill>
                <a:latin typeface="DejaVu Sans"/>
              </a:rPr>
              <a:t>when did this drift start?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RECORD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13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WE FOUND BY BREAKING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Thirteen findings. Four from deliberate sabotage.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081528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2697479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697479"/>
            <a:ext cx="89912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Drift is detected and reported at column level — the verdict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3090672"/>
            <a:ext cx="10271455" cy="530352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60120" y="3611880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32278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227832"/>
            <a:ext cx="89912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DCM records DEPLOY, never PLAN — an audit table is mandatory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142232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3758184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758184"/>
            <a:ext cx="89912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Dropping a column that is not last is un-revertible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4151375"/>
            <a:ext cx="10271455" cy="530352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60120" y="4672583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428853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288536"/>
            <a:ext cx="89912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Our own monitor sat suspended while its health view reported 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5202936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43000" y="481888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4818888"/>
            <a:ext cx="89912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Has now run unattended two consecutive nights, ~30s per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Every failure we found was something </a:t>
            </a:r>
            <a:r>
              <a:rPr sz="1700" b="1">
                <a:solidFill>
                  <a:srgbClr val="B26B12"/>
                </a:solidFill>
                <a:latin typeface="DejaVu Sans"/>
              </a:rPr>
              <a:t>reporting success without checking</a:t>
            </a:r>
            <a:r>
              <a:rPr sz="1700" b="0">
                <a:solidFill>
                  <a:srgbClr val="36454F"/>
                </a:solidFill>
                <a:latin typeface="DejaVu Sans"/>
              </a:rPr>
              <a:t> what it claimed to check.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FINDINGS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14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LIVE · END TO END · ~20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What we'll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651760"/>
            <a:ext cx="412988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CREATE TABLE IF NOT EXISTS succeeding against a table it never looked 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0156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401568"/>
            <a:ext cx="412988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Build a project from nothing — scaffold, definitions, plan, deploy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15137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151376"/>
            <a:ext cx="412988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Push to git — the repo fills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901183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901183"/>
            <a:ext cx="412988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Snowflake pulls its own copy; the plan agrees from both directions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65176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247" y="2651760"/>
            <a:ext cx="412988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Add a table, push, fetch, deploy — a change travelling through git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0167" y="3355848"/>
            <a:ext cx="4861407" cy="658368"/>
          </a:xfrm>
          <a:prstGeom prst="rect">
            <a:avLst/>
          </a:prstGeom>
          <a:solidFill>
            <a:srgbClr val="F6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61607" y="340156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26B12"/>
                </a:solidFill>
                <a:latin typeface="DejaVu Sans Mon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0247" y="3401568"/>
            <a:ext cx="412988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6454F"/>
                </a:solidFill>
                <a:latin typeface="DejaVu Sans"/>
              </a:rPr>
              <a:t>Tamper by hand — GitHub shows nothing, the drift check names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415137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4151376"/>
            <a:ext cx="412988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The un-revertible case, and why it changes the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15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BEYOND SCHEMA · WHAT'S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2743200"/>
            <a:ext cx="2468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839212"/>
            <a:ext cx="2468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does it MATCH?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C7B88"/>
                </a:solidFill>
                <a:latin typeface="DejaVu Sans Mono"/>
              </a:rPr>
              <a:t>PLAN · 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297680"/>
            <a:ext cx="2468880" cy="777240"/>
          </a:xfrm>
          <a:prstGeom prst="rect">
            <a:avLst/>
          </a:prstGeom>
          <a:solidFill>
            <a:srgbClr val="F6E9D6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4393692"/>
            <a:ext cx="2468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8A5210"/>
                </a:solidFill>
                <a:latin typeface="DejaVu Sans Mono"/>
              </a:rPr>
              <a:t>does the data PASS?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8A5210"/>
                </a:solidFill>
                <a:latin typeface="DejaVu Sans Mono"/>
              </a:rPr>
              <a:t>snow dcm test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892040" y="3520440"/>
            <a:ext cx="219456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92040" y="3662172"/>
            <a:ext cx="21945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the table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PRE.DIM_PBI_…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29000" y="3127248"/>
            <a:ext cx="1444752" cy="5760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429000" y="4160520"/>
            <a:ext cx="1444752" cy="521208"/>
          </a:xfrm>
          <a:prstGeom prst="bentConnector3">
            <a:avLst/>
          </a:prstGeom>
          <a:ln w="17780"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11880" y="361188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this POC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4224528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B26B12"/>
                </a:solidFill>
                <a:latin typeface="DejaVu Sans Mono"/>
              </a:rPr>
              <a:t>not yet used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2468880"/>
            <a:ext cx="36877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2800" b="1">
                <a:solidFill>
                  <a:srgbClr val="25313A"/>
                </a:solidFill>
                <a:latin typeface="DejaVu Sans"/>
              </a:rPr>
              <a:t>Gate the </a:t>
            </a:r>
            <a:r>
              <a:rPr sz="2800" b="1">
                <a:solidFill>
                  <a:srgbClr val="B26B12"/>
                </a:solidFill>
                <a:latin typeface="DejaVu Sans"/>
              </a:rPr>
              <a:t>data</a:t>
            </a:r>
            <a:r>
              <a:rPr sz="2800" b="1">
                <a:solidFill>
                  <a:srgbClr val="25313A"/>
                </a:solidFill>
                <a:latin typeface="DejaVu Sans"/>
              </a:rPr>
              <a:t>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3154680"/>
            <a:ext cx="36877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2800" b="1">
                <a:solidFill>
                  <a:srgbClr val="25313A"/>
                </a:solidFill>
                <a:latin typeface="DejaVu Sans"/>
              </a:rPr>
              <a:t>not just the shape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4023360"/>
            <a:ext cx="368777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This POC proved the database matches the repo. The same declarative project can prove the data passes — quality checks declared beside the schema.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5257800"/>
            <a:ext cx="368777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ATTACH a data metric function with an EXPECTATION, then </a:t>
            </a:r>
            <a:r>
              <a:rPr sz="1150" b="0">
                <a:solidFill>
                  <a:srgbClr val="36454F"/>
                </a:solidFill>
                <a:latin typeface="DejaVu Sans Mono"/>
              </a:rPr>
              <a:t>snow dcm test</a:t>
            </a:r>
            <a:r>
              <a:rPr sz="1350" b="1">
                <a:solidFill>
                  <a:srgbClr val="25313A"/>
                </a:solidFill>
                <a:latin typeface="DejaVu Sans"/>
              </a:rPr>
              <a:t>. A GA capability we never used.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BEYOND SCHEMA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16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BEYOND SCHEMA ·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Quality gates, declared beside the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14600"/>
            <a:ext cx="5943600" cy="2342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60120" y="2514600"/>
            <a:ext cx="41148" cy="23428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2660904"/>
            <a:ext cx="5532120" cy="2068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-- in the same sources/definitions file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ATTACH DATA METRIC FUNCTION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SNOWFLAKE.CORE.NULL_COUNT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TO TABLE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DEVELOP.PRE.DIM_PBI_CAPACITIES </a:t>
            </a:r>
            <a:r>
              <a:rPr sz="1100" b="1">
                <a:solidFill>
                  <a:srgbClr val="25313A"/>
                </a:solidFill>
                <a:latin typeface="DejaVu Sans Mono"/>
              </a:rPr>
              <a:t>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(ID)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EXPECTATION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no_null_ids ( </a:t>
            </a:r>
            <a:r>
              <a:rPr sz="1100" b="1">
                <a:solidFill>
                  <a:srgbClr val="B26B12"/>
                </a:solidFill>
                <a:latin typeface="DejaVu Sans Mono"/>
              </a:rPr>
              <a:t>VALUE = 0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);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endParaRPr sz="1100" b="0">
              <a:solidFill>
                <a:srgbClr val="36454F"/>
              </a:solidFill>
              <a:latin typeface="DejaVu Sans Mono"/>
            </a:endParaRP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ATTACH DATA METRIC FUNCTION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SNOWFLAKE.CORE.DUPLICATE_COUNT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TO TABLE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DEVELOP.PRE.DIM_PBI_CAPACITIES </a:t>
            </a:r>
            <a:r>
              <a:rPr sz="1100" b="1">
                <a:solidFill>
                  <a:srgbClr val="25313A"/>
                </a:solidFill>
                <a:latin typeface="DejaVu Sans Mono"/>
              </a:rPr>
              <a:t>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(ID)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EXPECTATION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unique_ids ( </a:t>
            </a:r>
            <a:r>
              <a:rPr sz="1100" b="1">
                <a:solidFill>
                  <a:srgbClr val="B26B12"/>
                </a:solidFill>
                <a:latin typeface="DejaVu Sans Mono"/>
              </a:rPr>
              <a:t>VALUE = 0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5074920"/>
            <a:ext cx="5943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"/>
              </a:rPr>
              <a:t>The left side is always the keyword 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VALUE</a:t>
            </a:r>
            <a:r>
              <a:rPr sz="1250" b="0">
                <a:solidFill>
                  <a:srgbClr val="6C7B88"/>
                </a:solidFill>
                <a:latin typeface="DejaVu Sans"/>
              </a:rPr>
              <a:t>. No subqueries, casts or arithmetic — a check, not a query.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468880"/>
            <a:ext cx="391637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ONE COMMAND RUNS THEM 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788920"/>
            <a:ext cx="3916375" cy="1911095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0" y="2788920"/>
            <a:ext cx="41148" cy="1911095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43800" y="2935224"/>
            <a:ext cx="3504895" cy="1636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$ snow dcm test 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endParaRPr sz="1200" b="0">
              <a:solidFill>
                <a:srgbClr val="36454F"/>
              </a:solidFill>
              <a:latin typeface="DejaVu Sans Mono"/>
            </a:endParaRP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4B6650"/>
                </a:solidFill>
                <a:latin typeface="DejaVu Sans Mono"/>
              </a:rPr>
              <a:t>  PASS  no_null_ids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B26B12"/>
                </a:solidFill>
                <a:latin typeface="DejaVu Sans Mono"/>
              </a:rPr>
              <a:t>  FAIL  unique_ids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C7B88"/>
                </a:solidFill>
                <a:latin typeface="DejaVu Sans Mono"/>
              </a:rPr>
              <a:t>     Expected VALUE = 0, got 1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C7B88"/>
                </a:solidFill>
                <a:latin typeface="DejaVu Sans Mono"/>
              </a:rPr>
              <a:t>  1 passed, 1 failed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4800600"/>
            <a:ext cx="3916375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"/>
              </a:rPr>
              <a:t>A </a:t>
            </a:r>
            <a:r>
              <a:rPr sz="1250" b="1">
                <a:solidFill>
                  <a:srgbClr val="25313A"/>
                </a:solidFill>
                <a:latin typeface="DejaVu Sans"/>
              </a:rPr>
              <a:t>verified run</a:t>
            </a:r>
            <a:r>
              <a:rPr sz="1250" b="0">
                <a:solidFill>
                  <a:srgbClr val="6C7B88"/>
                </a:solidFill>
                <a:latin typeface="DejaVu Sans"/>
              </a:rPr>
              <a:t>, not a mock-up. Exits non-zero on failure, so it gates a pipeline. The same check sits on landing, staging and presentation — bad data caught where it enters, not three dashboards later.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BEYOND SCHEMA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17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HONEST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What it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not yet prove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82696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52728" y="3200400"/>
            <a:ext cx="4828031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One slice — 8 tables, 53 columns, no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3758183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52728" y="3675887"/>
            <a:ext cx="4828031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Untested at full-estate scale (52 tables)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4233672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52728" y="4151376"/>
            <a:ext cx="4828031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Data-quality gates (expectations) not yet used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709160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52728" y="4626864"/>
            <a:ext cx="4828031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Grants, tasks, streams not yet tested by 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5184648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52728" y="5102352"/>
            <a:ext cx="4828031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ERROR recovery rehearsed only on empty tables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3017520"/>
            <a:ext cx="10972" cy="2560320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78040" y="3200400"/>
            <a:ext cx="4053535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database can now tell us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every morning</a:t>
            </a:r>
            <a:r>
              <a:rPr sz="1800" b="0">
                <a:solidFill>
                  <a:srgbClr val="36454F"/>
                </a:solidFill>
                <a:latin typeface="DejaVu Sans"/>
              </a:rPr>
              <a:t> whether it still matches the repo —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and name the column when it doesn't.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5212080"/>
            <a:ext cx="40535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8B3"/>
                </a:solidFill>
                <a:latin typeface="DejaVu Sans"/>
              </a:rPr>
              <a:t>Scheduled PLAN first — it's read-only. DEPLOY stays a human decision.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SCHEMA DRIFT, CAUGHT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18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1827</Words>
  <Application>Microsoft Macintosh PowerPoint</Application>
  <PresentationFormat>Widescreen</PresentationFormat>
  <Paragraphs>299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DejaVu Sans</vt:lpstr>
      <vt:lpstr>DejaVu Sans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Amit Bhopte</cp:lastModifiedBy>
  <cp:revision>4</cp:revision>
  <dcterms:created xsi:type="dcterms:W3CDTF">2013-01-27T09:14:16Z</dcterms:created>
  <dcterms:modified xsi:type="dcterms:W3CDTF">2026-08-26T12:12:05Z</dcterms:modified>
  <cp:category/>
</cp:coreProperties>
</file>
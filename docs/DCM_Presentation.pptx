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148840"/>
            <a:ext cx="10637215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600" b="1">
                <a:solidFill>
                  <a:srgbClr val="FFFFFF"/>
                </a:solidFill>
                <a:latin typeface="DejaVu Sans"/>
              </a:rPr>
              <a:t>Declarative Schema Management</a:t>
            </a:r>
          </a:p>
          <a:p>
            <a:pPr>
              <a:spcBef>
                <a:spcPts val="0"/>
              </a:spcBef>
              <a:spcAft>
                <a:spcPts val="2200"/>
              </a:spcAft>
            </a:pPr>
            <a:r>
              <a:rPr sz="4600" b="1">
                <a:solidFill>
                  <a:srgbClr val="708090"/>
                </a:solidFill>
                <a:latin typeface="DejaVu Sans"/>
              </a:rPr>
              <a:t>in Snowflake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900" b="0">
                <a:solidFill>
                  <a:srgbClr val="D3D3D3"/>
                </a:solidFill>
                <a:latin typeface="DejaVu Sans"/>
              </a:rPr>
              <a:t>A proof of concept — what it does, what it costs,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>
                <a:solidFill>
                  <a:srgbClr val="D3D3D3"/>
                </a:solidFill>
                <a:latin typeface="DejaVu Sans"/>
              </a:rPr>
              <a:t>and what it cannot do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4892040"/>
            <a:ext cx="1828800" cy="32004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523036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D3D3D3"/>
                </a:solidFill>
                <a:latin typeface="DejaVu Sans"/>
              </a:rPr>
              <a:t>DCM Projects  ·  8 tables  ·  53 columns  ·  12 findings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708090"/>
                </a:solidFill>
                <a:latin typeface="DejaVu Sans"/>
              </a:rPr>
              <a:t>Personal Snowflake account  · 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36454F"/>
                </a:solidFill>
                <a:latin typeface="DejaVu Sans"/>
              </a:rPr>
              <a:t>Our pipelines cannot see the database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81328"/>
            <a:ext cx="1371600" cy="3810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36454F"/>
                </a:solidFill>
                <a:latin typeface="DejaVu Sans"/>
              </a:rPr>
              <a:t>70  CREATE TABLE IF NOT EXISTS  statements across 8 pipeline files.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624328"/>
            <a:ext cx="3393338" cy="1691640"/>
          </a:xfrm>
          <a:prstGeom prst="rect">
            <a:avLst/>
          </a:prstGeom>
          <a:solidFill>
            <a:srgbClr val="F5F6F8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624328"/>
            <a:ext cx="3393338" cy="50292"/>
          </a:xfrm>
          <a:prstGeom prst="rect">
            <a:avLst/>
          </a:prstGeom>
          <a:solidFill>
            <a:srgbClr val="D3D3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1" y="2916936"/>
            <a:ext cx="2881274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600" b="1">
                <a:solidFill>
                  <a:srgbClr val="708090"/>
                </a:solidFill>
                <a:latin typeface="DejaVu Sans"/>
              </a:rPr>
              <a:t>1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36454F"/>
                </a:solidFill>
                <a:latin typeface="DejaVu Sans"/>
              </a:rPr>
              <a:t>Pipeline creates the table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708090"/>
                </a:solidFill>
                <a:latin typeface="DejaVu Sans"/>
              </a:rPr>
              <a:t>first run only</a:t>
            </a:r>
          </a:p>
        </p:txBody>
      </p:sp>
      <p:sp>
        <p:nvSpPr>
          <p:cNvPr id="8" name="Rectangle 7"/>
          <p:cNvSpPr/>
          <p:nvPr/>
        </p:nvSpPr>
        <p:spPr>
          <a:xfrm>
            <a:off x="4399178" y="2624328"/>
            <a:ext cx="3393338" cy="1691640"/>
          </a:xfrm>
          <a:prstGeom prst="rect">
            <a:avLst/>
          </a:prstGeom>
          <a:solidFill>
            <a:srgbClr val="F5F6F8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99178" y="2624328"/>
            <a:ext cx="3393338" cy="50292"/>
          </a:xfrm>
          <a:prstGeom prst="rect">
            <a:avLst/>
          </a:prstGeom>
          <a:solidFill>
            <a:srgbClr val="D3D3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55210" y="2916936"/>
            <a:ext cx="2881274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600" b="1">
                <a:solidFill>
                  <a:srgbClr val="708090"/>
                </a:solidFill>
                <a:latin typeface="DejaVu Sans"/>
              </a:rPr>
              <a:t>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36454F"/>
                </a:solidFill>
                <a:latin typeface="DejaVu Sans"/>
              </a:rPr>
              <a:t>Someone adds a column by hand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708090"/>
                </a:solidFill>
                <a:latin typeface="DejaVu Sans"/>
              </a:rPr>
              <a:t>a Tuesday afternoon, no ticket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21116" y="2624328"/>
            <a:ext cx="3393338" cy="1691640"/>
          </a:xfrm>
          <a:prstGeom prst="rect">
            <a:avLst/>
          </a:prstGeom>
          <a:solidFill>
            <a:srgbClr val="F5F6F8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21116" y="2624328"/>
            <a:ext cx="3393338" cy="50292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7148" y="2916936"/>
            <a:ext cx="2881274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600" b="1">
                <a:solidFill>
                  <a:srgbClr val="708090"/>
                </a:solidFill>
                <a:latin typeface="DejaVu Sans"/>
              </a:rPr>
              <a:t>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36454F"/>
                </a:solidFill>
                <a:latin typeface="DejaVu Sans"/>
              </a:rPr>
              <a:t>Pipeline re-runs the same DDL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708090"/>
                </a:solidFill>
                <a:latin typeface="DejaVu Sans"/>
              </a:rPr>
              <a:t>"already exists,
statement succeeded"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4544568"/>
            <a:ext cx="10637215" cy="1394460"/>
          </a:xfrm>
          <a:prstGeom prst="rect">
            <a:avLst/>
          </a:prstGeom>
          <a:solidFill>
            <a:srgbClr val="F2F4F6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" y="4681728"/>
            <a:ext cx="10271455" cy="11201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36454F"/>
                </a:solidFill>
                <a:latin typeface="DejaVu Sans Mono"/>
              </a:rPr>
              <a:t>DESC TABLE CUSTOMER;        -- data intact, 2 rows, nothing dropped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36454F"/>
                </a:solidFill>
                <a:latin typeface="DejaVu Sans Mono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36454F"/>
                </a:solidFill>
                <a:latin typeface="DejaVu Sans Mono"/>
              </a:rPr>
              <a:t>ID       VARCHAR(36)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36454F"/>
                </a:solidFill>
                <a:latin typeface="DejaVu Sans Mono"/>
              </a:rPr>
              <a:t>NAME     VARCHAR(200)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36454F"/>
                </a:solidFill>
                <a:latin typeface="DejaVu Sans Mono"/>
              </a:rPr>
              <a:t>SALARY   VARCHAR(100)     &lt;-- undeclared. Never inspected.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6158484"/>
            <a:ext cx="10637215" cy="566928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3271" y="6295644"/>
            <a:ext cx="10125151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DejaVu Sans"/>
              </a:rPr>
              <a:t>It did nothing, said so honestly, and doing nothing counted as success.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36454F"/>
                </a:solidFill>
                <a:latin typeface="DejaVu Sans"/>
              </a:rPr>
              <a:t>Only one of these was ever real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81328"/>
            <a:ext cx="1371600" cy="3810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708090"/>
                </a:solidFill>
                <a:latin typeface="DejaVu Sans"/>
              </a:rPr>
              <a:t>“repo” here = the Matillion pipeline repo that holds the 70 DDL statements.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532888"/>
            <a:ext cx="10637215" cy="658368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2624328"/>
            <a:ext cx="6568135" cy="5120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DejaVu Sans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20279" y="2624328"/>
            <a:ext cx="1691640" cy="5120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DejaVu Sans"/>
              </a:rPr>
              <a:t>Before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40519" y="2624328"/>
            <a:ext cx="1691640" cy="5120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DejaVu Sans"/>
              </a:rPr>
              <a:t>With DCM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3282696"/>
            <a:ext cx="6568135" cy="5120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454F"/>
                </a:solidFill>
                <a:latin typeface="DejaVu Sans"/>
              </a:rPr>
              <a:t>“The pipeline repo can build the database”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0279" y="3282696"/>
            <a:ext cx="1691640" cy="5120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454F"/>
                </a:solidFill>
                <a:latin typeface="DejaVu Sans"/>
              </a:rPr>
              <a:t>YES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40519" y="3282696"/>
            <a:ext cx="1691640" cy="5120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454F"/>
                </a:solidFill>
                <a:latin typeface="DejaVu Sans"/>
              </a:rPr>
              <a:t>YES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838651"/>
            <a:ext cx="10637215" cy="10972"/>
          </a:xfrm>
          <a:prstGeom prst="rect">
            <a:avLst/>
          </a:prstGeom>
          <a:solidFill>
            <a:srgbClr val="D3D3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849624"/>
            <a:ext cx="10637215" cy="658368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3941063"/>
            <a:ext cx="6568135" cy="5120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454F"/>
                </a:solidFill>
                <a:latin typeface="DejaVu Sans"/>
              </a:rPr>
              <a:t>“The database still matches the pipeline repo”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20279" y="3941063"/>
            <a:ext cx="1691640" cy="5120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454F"/>
                </a:solidFill>
                <a:latin typeface="DejaVu Sans"/>
              </a:rPr>
              <a:t>NO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40519" y="3941063"/>
            <a:ext cx="1691640" cy="5120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454F"/>
                </a:solidFill>
                <a:latin typeface="DejaVu Sans"/>
              </a:rPr>
              <a:t>YES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497019"/>
            <a:ext cx="10637215" cy="10972"/>
          </a:xfrm>
          <a:prstGeom prst="rect">
            <a:avLst/>
          </a:prstGeom>
          <a:solidFill>
            <a:srgbClr val="D3D3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965192"/>
            <a:ext cx="10637215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36454F"/>
                </a:solidFill>
                <a:latin typeface="DejaVu Sans"/>
              </a:rPr>
              <a:t>Two different guarantees. Only the first was ever true —</a:t>
            </a:r>
          </a:p>
          <a:p>
            <a:pPr>
              <a:spcBef>
                <a:spcPts val="0"/>
              </a:spcBef>
              <a:spcAft>
                <a:spcPts val="1600"/>
              </a:spcAft>
            </a:pPr>
            <a:r>
              <a:rPr sz="1800" b="0">
                <a:solidFill>
                  <a:srgbClr val="36454F"/>
                </a:solidFill>
                <a:latin typeface="DejaVu Sans"/>
              </a:rPr>
              <a:t>and nothing in the estate could tell you the difference.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708090"/>
                </a:solidFill>
                <a:latin typeface="DejaVu Sans"/>
              </a:rPr>
              <a:t>Related, and the reason we went looking: a dashboard dimension in this estate sat frozen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708090"/>
                </a:solidFill>
                <a:latin typeface="DejaVu Sans"/>
              </a:rPr>
              <a:t>for seven months. A different defect — a trailing comma that alert-then-succeed hid —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708090"/>
                </a:solidFill>
                <a:latin typeface="DejaVu Sans"/>
              </a:rPr>
              <a:t>but the same shape: something that looked like a check and never checked anything.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36454F"/>
                </a:solidFill>
                <a:latin typeface="DejaVu Sans"/>
              </a:rPr>
              <a:t>Declare the state. Snowflake works out the difference.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81328"/>
            <a:ext cx="1371600" cy="3810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295144"/>
            <a:ext cx="82296" cy="82296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1031717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36454F"/>
                </a:solidFill>
                <a:latin typeface="DejaVu Sans"/>
              </a:rPr>
              <a:t>Native Snowflake feature — currently in preview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62072"/>
            <a:ext cx="82296" cy="82296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761488"/>
            <a:ext cx="1031717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36454F"/>
                </a:solidFill>
                <a:latin typeface="DejaVu Sans"/>
              </a:rPr>
              <a:t>You declare objects in .sql files; Snowflake computes the changeset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428999"/>
            <a:ext cx="82296" cy="82296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328415"/>
            <a:ext cx="1031717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36454F"/>
                </a:solidFill>
                <a:latin typeface="DejaVu Sans"/>
              </a:rPr>
              <a:t>PLAN is a dry run and changes nothing.  DEPLOY applies 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995928"/>
            <a:ext cx="82296" cy="82296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895344"/>
            <a:ext cx="1031717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36454F"/>
                </a:solidFill>
                <a:latin typeface="DejaVu Sans"/>
              </a:rPr>
              <a:t>No external state file, unlike Terraform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562856"/>
            <a:ext cx="82296" cy="82296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462272"/>
            <a:ext cx="1031717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36454F"/>
                </a:solidFill>
                <a:latin typeface="DejaVu Sans"/>
              </a:rPr>
              <a:t>TABLE, SCHEMA and DATABASE are GA within DCM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5486400"/>
            <a:ext cx="10637215" cy="566928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3271" y="5623560"/>
            <a:ext cx="10125151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DejaVu Sans"/>
              </a:rPr>
              <a:t>The database stops being a place things accumulate, and becomes a build output.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36454F"/>
                </a:solidFill>
                <a:latin typeface="DejaVu Sans"/>
              </a:rPr>
              <a:t>The DDL stops living inside the ETL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81328"/>
            <a:ext cx="1371600" cy="3810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1965960"/>
            <a:ext cx="5112867" cy="3200400"/>
          </a:xfrm>
          <a:prstGeom prst="rect">
            <a:avLst/>
          </a:prstGeom>
          <a:solidFill>
            <a:srgbClr val="F5F6F8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5112867" cy="457200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3271" y="2066543"/>
            <a:ext cx="4655667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DejaVu Sans"/>
              </a:rPr>
              <a:t>BEFORE</a:t>
            </a:r>
          </a:p>
        </p:txBody>
      </p:sp>
      <p:sp>
        <p:nvSpPr>
          <p:cNvPr id="7" name="Rectangle 6"/>
          <p:cNvSpPr/>
          <p:nvPr/>
        </p:nvSpPr>
        <p:spPr>
          <a:xfrm>
            <a:off x="1069848" y="2743200"/>
            <a:ext cx="64008" cy="64008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2642615"/>
            <a:ext cx="433562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DDL embedded in orchestration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1069848" y="3218688"/>
            <a:ext cx="64008" cy="64008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3118103"/>
            <a:ext cx="433562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70 statements, 8 pipeline files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69848" y="3694176"/>
            <a:ext cx="64008" cy="64008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3593591"/>
            <a:ext cx="433562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Runs as a side effect of a data load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69848" y="4169664"/>
            <a:ext cx="64008" cy="64008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80160" y="4069079"/>
            <a:ext cx="433562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No review, no diff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69848" y="4645152"/>
            <a:ext cx="64008" cy="64008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4544568"/>
            <a:ext cx="433562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Drift is invisible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1587" y="1965960"/>
            <a:ext cx="511286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01587" y="1965960"/>
            <a:ext cx="5112867" cy="45720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57619" y="2066543"/>
            <a:ext cx="4655667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DejaVu Sans"/>
              </a:rPr>
              <a:t>AFTER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94195" y="2743200"/>
            <a:ext cx="64008" cy="64008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04507" y="2642615"/>
            <a:ext cx="433562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DDL in git, reviewed like code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94195" y="3218688"/>
            <a:ext cx="64008" cy="64008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04507" y="3118103"/>
            <a:ext cx="433562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One source of truth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94195" y="3694176"/>
            <a:ext cx="64008" cy="64008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04507" y="3593591"/>
            <a:ext cx="433562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Plan shows impact before it lands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94195" y="4169664"/>
            <a:ext cx="64008" cy="64008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04507" y="4069079"/>
            <a:ext cx="433562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One command rebuilds an environment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94195" y="4645152"/>
            <a:ext cx="64008" cy="64008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04507" y="4544568"/>
            <a:ext cx="433562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Drift becomes detectable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6199632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08090"/>
                </a:solidFill>
                <a:latin typeface="DejaVu Sans"/>
              </a:rPr>
              <a:t>The repo becomes able to prove what the database should look like — not merely to build it once.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36454F"/>
                </a:solidFill>
                <a:latin typeface="DejaVu Sans"/>
              </a:rPr>
              <a:t>DEFINE, not CREATE</a:t>
            </a:r>
          </a:p>
          <a:p>
            <a:pPr>
              <a:spcBef>
                <a:spcPts val="800"/>
              </a:spcBef>
              <a:spcAft>
                <a:spcPts val="600"/>
              </a:spcAft>
            </a:pPr>
            <a:r>
              <a:rPr sz="1500" b="0">
                <a:solidFill>
                  <a:srgbClr val="708090"/>
                </a:solidFill>
                <a:latin typeface="DejaVu Sans"/>
              </a:rPr>
              <a:t>A description of what should be true — not an instruction to do something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783080"/>
            <a:ext cx="1371600" cy="3810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377440"/>
            <a:ext cx="10637215" cy="1618488"/>
          </a:xfrm>
          <a:prstGeom prst="rect">
            <a:avLst/>
          </a:prstGeom>
          <a:solidFill>
            <a:srgbClr val="F2F4F6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8408" y="2514600"/>
            <a:ext cx="10271455" cy="1344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36454F"/>
                </a:solidFill>
                <a:latin typeface="DejaVu Sans Mono"/>
              </a:rPr>
              <a:t>DEFINE TABLE DEMO_PBI.PRE.DIM_PBI_CAPACITIES (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36454F"/>
                </a:solidFill>
                <a:latin typeface="DejaVu Sans Mono"/>
              </a:rPr>
              <a:t>    ID                VARCHAR(36)   NOT NULL,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36454F"/>
                </a:solidFill>
                <a:latin typeface="DejaVu Sans Mono"/>
              </a:rPr>
              <a:t>    NAME              VARCHAR(500),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36454F"/>
                </a:solidFill>
                <a:latin typeface="DejaVu Sans Mono"/>
              </a:rPr>
              <a:t>    SKU               VARCHAR(50),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36454F"/>
                </a:solidFill>
                <a:latin typeface="DejaVu Sans Mono"/>
              </a:rPr>
              <a:t>    IS_CURRENT_FLAG   NUMBER(1,0)   DEFAULT 1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36454F"/>
                </a:solidFill>
                <a:latin typeface="DejaVu Sans Mono"/>
              </a:rPr>
              <a:t>);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4507992"/>
            <a:ext cx="82296" cy="82296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407408"/>
            <a:ext cx="103171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454F"/>
                </a:solidFill>
                <a:latin typeface="DejaVu Sans"/>
              </a:rPr>
              <a:t>Definition files accept only DEFINE, GRANT and ATTACH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965192"/>
            <a:ext cx="82296" cy="82296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4864608"/>
            <a:ext cx="103171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454F"/>
                </a:solidFill>
                <a:latin typeface="DejaVu Sans"/>
              </a:rPr>
              <a:t>Names must be fully qualified:  database.schema.object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5422392"/>
            <a:ext cx="82296" cy="82296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321808"/>
            <a:ext cx="103171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454F"/>
                </a:solidFill>
                <a:latin typeface="DejaVu Sans"/>
              </a:rPr>
              <a:t>Executes underneath as CREATE OR ALTER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6099048"/>
            <a:ext cx="10637215" cy="566928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3271" y="6236208"/>
            <a:ext cx="10125151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DejaVu Sans"/>
              </a:rPr>
              <a:t>Remove a DEFINE statement and the next deploy drops the object.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36454F"/>
                </a:solidFill>
                <a:latin typeface="DejaVu Sans"/>
              </a:rPr>
              <a:t>The folder layout is fixed, not a convention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81328"/>
            <a:ext cx="1371600" cy="3810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148840"/>
            <a:ext cx="10637215" cy="1842515"/>
          </a:xfrm>
          <a:prstGeom prst="rect">
            <a:avLst/>
          </a:prstGeom>
          <a:solidFill>
            <a:srgbClr val="F2F4F6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8408" y="2286000"/>
            <a:ext cx="10271455" cy="156819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36454F"/>
                </a:solidFill>
                <a:latin typeface="DejaVu Sans Mono"/>
              </a:rPr>
              <a:t>manifest.yml            which account, which project, what varies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36454F"/>
                </a:solidFill>
                <a:latin typeface="DejaVu Sans Mono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36454F"/>
                </a:solidFill>
                <a:latin typeface="DejaVu Sans Mono"/>
              </a:rPr>
              <a:t>sources/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36454F"/>
                </a:solidFill>
                <a:latin typeface="DejaVu Sans Mono"/>
              </a:rPr>
              <a:t>  definitions/          EVERY object definition lives here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36454F"/>
                </a:solidFill>
                <a:latin typeface="DejaVu Sans Mono"/>
              </a:rPr>
              <a:t>  macros/               optional Jinja macros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36454F"/>
                </a:solidFill>
                <a:latin typeface="DejaVu Sans Mono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36454F"/>
                </a:solidFill>
                <a:latin typeface="DejaVu Sans Mono"/>
              </a:rPr>
              <a:t>out/                    plan and deploy artifacts, generated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4549140"/>
            <a:ext cx="82296" cy="82296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448556"/>
            <a:ext cx="103171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454F"/>
                </a:solidFill>
                <a:latin typeface="DejaVu Sans"/>
              </a:rPr>
              <a:t>sources/definitions/ is required — files anywhere else are simply not read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006340"/>
            <a:ext cx="82296" cy="82296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4905756"/>
            <a:ext cx="103171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454F"/>
                </a:solidFill>
                <a:latin typeface="DejaVu Sans"/>
              </a:rPr>
              <a:t>Filenames carry no meaning; grouping is for humans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5463540"/>
            <a:ext cx="82296" cy="82296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362956"/>
            <a:ext cx="103171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454F"/>
                </a:solidFill>
                <a:latin typeface="DejaVu Sans"/>
              </a:rPr>
              <a:t>out/ is generated output and is git-ignored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36454F"/>
                </a:solidFill>
                <a:latin typeface="DejaVu Sans"/>
              </a:rPr>
              <a:t>The manifest: where, and what varies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81328"/>
            <a:ext cx="1371600" cy="3810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103120"/>
            <a:ext cx="10637215" cy="2514600"/>
          </a:xfrm>
          <a:prstGeom prst="rect">
            <a:avLst/>
          </a:prstGeom>
          <a:solidFill>
            <a:srgbClr val="F2F4F6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8408" y="2240279"/>
            <a:ext cx="10271455" cy="2240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36454F"/>
                </a:solidFill>
                <a:latin typeface="DejaVu Sans Mono"/>
              </a:rPr>
              <a:t>targets: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36454F"/>
                </a:solidFill>
                <a:latin typeface="DejaVu Sans Mono"/>
              </a:rPr>
              <a:t>  DCM_DEV: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36454F"/>
                </a:solidFill>
                <a:latin typeface="DejaVu Sans Mono"/>
              </a:rPr>
              <a:t>    account_identifier: ORG-ACCOUNT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36454F"/>
                </a:solidFill>
                <a:latin typeface="DejaVu Sans Mono"/>
              </a:rPr>
              <a:t>    project_name: DCM_ADMIN.PROJECTS.PBI_CAPACITIES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36454F"/>
                </a:solidFill>
                <a:latin typeface="DejaVu Sans Mono"/>
              </a:rPr>
              <a:t>    templating_config: DEV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36454F"/>
                </a:solidFill>
                <a:latin typeface="DejaVu Sans Mono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36454F"/>
                </a:solidFill>
                <a:latin typeface="DejaVu Sans Mono"/>
              </a:rPr>
              <a:t>templating: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36454F"/>
                </a:solidFill>
                <a:latin typeface="DejaVu Sans Mono"/>
              </a:rPr>
              <a:t>  configurations: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36454F"/>
                </a:solidFill>
                <a:latin typeface="DejaVu Sans Mono"/>
              </a:rPr>
              <a:t>    DEV:   { env_suffix: "" }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36454F"/>
                </a:solidFill>
                <a:latin typeface="DejaVu Sans Mono"/>
              </a:rPr>
              <a:t>    PROD:  { env_suffix: "_PROD" }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5038344"/>
            <a:ext cx="82296" cy="82296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937759"/>
            <a:ext cx="103171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454F"/>
                </a:solidFill>
                <a:latin typeface="DejaVu Sans"/>
              </a:rPr>
              <a:t>targets = WHERE.    templating = WHAT DIFFERS between environments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495544"/>
            <a:ext cx="82296" cy="82296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5394959"/>
            <a:ext cx="103171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454F"/>
                </a:solidFill>
                <a:latin typeface="DejaVu Sans"/>
              </a:rPr>
              <a:t>The same reviewed files build dev and prod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6126479"/>
            <a:ext cx="10637215" cy="566928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1" y="6263640"/>
            <a:ext cx="10125151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DejaVu Sans"/>
              </a:rPr>
              <a:t>Promotion is pointing at a different target. You copy nothing.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36454F"/>
                </a:solidFill>
                <a:latin typeface="DejaVu Sans"/>
              </a:rPr>
              <a:t>How it fits together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81328"/>
            <a:ext cx="1371600" cy="3810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2282113" cy="114300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532888"/>
            <a:ext cx="2007793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DejaVu Sans"/>
              </a:rPr>
              <a:t>GitHub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D3D3D3"/>
                </a:solidFill>
                <a:latin typeface="DejaVu Sans"/>
              </a:rPr>
              <a:t>authoritative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14217" y="2679191"/>
            <a:ext cx="411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8090"/>
                </a:solidFill>
                <a:latin typeface="DejaVu Sans"/>
              </a:rPr>
              <a:t>→</a:t>
            </a:r>
          </a:p>
        </p:txBody>
      </p:sp>
      <p:sp>
        <p:nvSpPr>
          <p:cNvPr id="7" name="Rectangle 6"/>
          <p:cNvSpPr/>
          <p:nvPr/>
        </p:nvSpPr>
        <p:spPr>
          <a:xfrm>
            <a:off x="3562273" y="2286000"/>
            <a:ext cx="2282113" cy="1143000"/>
          </a:xfrm>
          <a:prstGeom prst="rect">
            <a:avLst/>
          </a:prstGeom>
          <a:solidFill>
            <a:srgbClr val="F5F6F8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99433" y="2532888"/>
            <a:ext cx="2007793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36454F"/>
                </a:solidFill>
                <a:latin typeface="DejaVu Sans"/>
              </a:rPr>
              <a:t>GIT REPOSITORY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708090"/>
                </a:solidFill>
                <a:latin typeface="DejaVu Sans"/>
              </a:rPr>
              <a:t>account-level clone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99251" y="2679191"/>
            <a:ext cx="411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8090"/>
                </a:solidFill>
                <a:latin typeface="DejaVu Sans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47307" y="2286000"/>
            <a:ext cx="2282113" cy="1143000"/>
          </a:xfrm>
          <a:prstGeom prst="rect">
            <a:avLst/>
          </a:prstGeom>
          <a:solidFill>
            <a:srgbClr val="F5F6F8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84467" y="2532888"/>
            <a:ext cx="2007793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36454F"/>
                </a:solidFill>
                <a:latin typeface="DejaVu Sans"/>
              </a:rPr>
              <a:t>DCM PROJECT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708090"/>
                </a:solidFill>
                <a:latin typeface="DejaVu Sans"/>
              </a:rPr>
              <a:t>history + artifacts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4285" y="2679191"/>
            <a:ext cx="411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8090"/>
                </a:solidFill>
                <a:latin typeface="DejaVu Sans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32341" y="2286000"/>
            <a:ext cx="2282113" cy="114300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69501" y="2532888"/>
            <a:ext cx="2007793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DejaVu Sans"/>
              </a:rPr>
              <a:t>Database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D3D3D3"/>
                </a:solidFill>
                <a:latin typeface="DejaVu Sans"/>
              </a:rPr>
              <a:t>LND / STG / PRE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93591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08090"/>
                </a:solidFill>
                <a:latin typeface="DejaVu Sans"/>
              </a:rPr>
              <a:t>         FETCH                    PLAN / DEPLOY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114800"/>
            <a:ext cx="10637215" cy="1051560"/>
          </a:xfrm>
          <a:prstGeom prst="rect">
            <a:avLst/>
          </a:prstGeom>
          <a:solidFill>
            <a:srgbClr val="F5F6F8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315968"/>
            <a:ext cx="99971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36454F"/>
                </a:solidFill>
                <a:latin typeface="DejaVu Sans"/>
              </a:rPr>
              <a:t>Nightly task, 05:00 UTC     →     drift log     →     email alert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708090"/>
                </a:solidFill>
                <a:latin typeface="DejaVu Sans"/>
              </a:rPr>
              <a:t>Runs PLAN only. Never deploys.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5440680"/>
            <a:ext cx="10637215" cy="566928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1" y="5577840"/>
            <a:ext cx="10125151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DejaVu Sans"/>
              </a:rPr>
              <a:t>PLAN is automated. DEPLOY is a decision a person makes after reading one.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36454F"/>
                </a:solidFill>
                <a:latin typeface="DejaVu Sans"/>
              </a:rPr>
              <a:t>Three copies of the same files</a:t>
            </a:r>
          </a:p>
          <a:p>
            <a:pPr>
              <a:spcBef>
                <a:spcPts val="800"/>
              </a:spcBef>
              <a:spcAft>
                <a:spcPts val="600"/>
              </a:spcAft>
            </a:pPr>
            <a:r>
              <a:rPr sz="1500" b="0">
                <a:solidFill>
                  <a:srgbClr val="708090"/>
                </a:solidFill>
                <a:latin typeface="DejaVu Sans"/>
              </a:rPr>
              <a:t>All three can be stale, independently, and nothing warns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783080"/>
            <a:ext cx="1371600" cy="3810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423160"/>
            <a:ext cx="10637215" cy="530352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23544" y="2514600"/>
            <a:ext cx="2606040" cy="3840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DejaVu Sans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58184" y="2514600"/>
            <a:ext cx="2514600" cy="3840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DejaVu Sans"/>
              </a:rPr>
              <a:t>Lives 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01384" y="2514600"/>
            <a:ext cx="2240280" cy="3840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DejaVu Sans"/>
              </a:rPr>
              <a:t>Updated by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70264" y="2514600"/>
            <a:ext cx="2361895" cy="3840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DejaVu Sans"/>
              </a:rPr>
              <a:t>Read by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3044952"/>
            <a:ext cx="2606040" cy="3840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GitHub repo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58184" y="3044952"/>
            <a:ext cx="2514600" cy="3840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github.com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01384" y="3044952"/>
            <a:ext cx="2240280" cy="3840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your push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0264" y="3044952"/>
            <a:ext cx="2361895" cy="3840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everyone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472891"/>
            <a:ext cx="10637215" cy="10972"/>
          </a:xfrm>
          <a:prstGeom prst="rect">
            <a:avLst/>
          </a:prstGeom>
          <a:solidFill>
            <a:srgbClr val="D3D3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3483864"/>
            <a:ext cx="10637215" cy="530352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3575304"/>
            <a:ext cx="2606040" cy="3840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GIT REPOSITORY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58184" y="3575304"/>
            <a:ext cx="2514600" cy="3840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a Snowflake schema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1384" y="3575304"/>
            <a:ext cx="2240280" cy="3840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ALTER … FETCH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70264" y="3575304"/>
            <a:ext cx="2361895" cy="3840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plan, deploy, the task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4003243"/>
            <a:ext cx="10637215" cy="10972"/>
          </a:xfrm>
          <a:prstGeom prst="rect">
            <a:avLst/>
          </a:prstGeom>
          <a:solidFill>
            <a:srgbClr val="D3D3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3544" y="4105656"/>
            <a:ext cx="2606040" cy="3840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Workspace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58184" y="4105656"/>
            <a:ext cx="2514600" cy="3840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your personal database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01384" y="4105656"/>
            <a:ext cx="2240280" cy="3840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Pull button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70264" y="4105656"/>
            <a:ext cx="2361895" cy="3840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you, in the editor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4533595"/>
            <a:ext cx="10637215" cy="10972"/>
          </a:xfrm>
          <a:prstGeom prst="rect">
            <a:avLst/>
          </a:prstGeom>
          <a:solidFill>
            <a:srgbClr val="D3D3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22960" y="5010912"/>
            <a:ext cx="82296" cy="82296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4910328"/>
            <a:ext cx="103171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454F"/>
                </a:solidFill>
                <a:latin typeface="DejaVu Sans"/>
              </a:rPr>
              <a:t>A GIT REPOSITORY is a snapshot, not a live link — FETCH or it is stale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" y="5468112"/>
            <a:ext cx="82296" cy="82296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5367528"/>
            <a:ext cx="103171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454F"/>
                </a:solidFill>
                <a:latin typeface="DejaVu Sans"/>
              </a:rPr>
              <a:t>A workspace is invisible to automation. A scheduled task cannot read one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" y="6099048"/>
            <a:ext cx="10637215" cy="566928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1" y="6236208"/>
            <a:ext cx="10125151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DejaVu Sans"/>
              </a:rPr>
              <a:t>GitHub is authoritative. The other two are caches.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36454F"/>
                </a:solidFill>
                <a:latin typeface="DejaVu Sans"/>
              </a:rPr>
              <a:t>A change travels in one direction only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81328"/>
            <a:ext cx="1371600" cy="3810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423160"/>
            <a:ext cx="1201635" cy="713232"/>
          </a:xfrm>
          <a:prstGeom prst="rect">
            <a:avLst/>
          </a:prstGeom>
          <a:solidFill>
            <a:srgbClr val="F5F6F8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660904"/>
            <a:ext cx="111019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6454F"/>
                </a:solidFill>
                <a:latin typeface="DejaVu Sans"/>
              </a:rPr>
              <a:t>edit</a:t>
            </a:r>
          </a:p>
        </p:txBody>
      </p:sp>
      <p:sp>
        <p:nvSpPr>
          <p:cNvPr id="6" name="Rectangle 5"/>
          <p:cNvSpPr/>
          <p:nvPr/>
        </p:nvSpPr>
        <p:spPr>
          <a:xfrm>
            <a:off x="2125179" y="2423160"/>
            <a:ext cx="1201635" cy="713232"/>
          </a:xfrm>
          <a:prstGeom prst="rect">
            <a:avLst/>
          </a:prstGeom>
          <a:solidFill>
            <a:srgbClr val="F5F6F8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70899" y="2660904"/>
            <a:ext cx="111019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6454F"/>
                </a:solidFill>
                <a:latin typeface="DejaVu Sans"/>
              </a:rPr>
              <a:t>commit</a:t>
            </a:r>
          </a:p>
        </p:txBody>
      </p:sp>
      <p:sp>
        <p:nvSpPr>
          <p:cNvPr id="8" name="Rectangle 7"/>
          <p:cNvSpPr/>
          <p:nvPr/>
        </p:nvSpPr>
        <p:spPr>
          <a:xfrm>
            <a:off x="3473119" y="2423160"/>
            <a:ext cx="1201635" cy="713232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18839" y="2660904"/>
            <a:ext cx="111019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DejaVu Sans"/>
              </a:rPr>
              <a:t>GitHub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21059" y="2423160"/>
            <a:ext cx="1201635" cy="713232"/>
          </a:xfrm>
          <a:prstGeom prst="rect">
            <a:avLst/>
          </a:prstGeom>
          <a:solidFill>
            <a:srgbClr val="F5F6F8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66779" y="2660904"/>
            <a:ext cx="111019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6454F"/>
                </a:solidFill>
                <a:latin typeface="DejaVu Sans"/>
              </a:rPr>
              <a:t>FETCH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68999" y="2423160"/>
            <a:ext cx="1201635" cy="713232"/>
          </a:xfrm>
          <a:prstGeom prst="rect">
            <a:avLst/>
          </a:prstGeom>
          <a:solidFill>
            <a:srgbClr val="F5F6F8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4719" y="2660904"/>
            <a:ext cx="111019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6454F"/>
                </a:solidFill>
                <a:latin typeface="DejaVu Sans"/>
              </a:rPr>
              <a:t>PLAN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16939" y="2423160"/>
            <a:ext cx="1201635" cy="713232"/>
          </a:xfrm>
          <a:prstGeom prst="rect">
            <a:avLst/>
          </a:prstGeom>
          <a:solidFill>
            <a:srgbClr val="F5F6F8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62659" y="2660904"/>
            <a:ext cx="111019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6454F"/>
                </a:solidFill>
                <a:latin typeface="DejaVu Sans"/>
              </a:rPr>
              <a:t>review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864879" y="2423160"/>
            <a:ext cx="1201635" cy="713232"/>
          </a:xfrm>
          <a:prstGeom prst="rect">
            <a:avLst/>
          </a:prstGeom>
          <a:solidFill>
            <a:srgbClr val="F5F6F8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10599" y="2660904"/>
            <a:ext cx="111019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6454F"/>
                </a:solidFill>
                <a:latin typeface="DejaVu Sans"/>
              </a:rPr>
              <a:t>DEPLOY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212819" y="2423160"/>
            <a:ext cx="1201635" cy="713232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58539" y="2660904"/>
            <a:ext cx="111019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DejaVu Sans"/>
              </a:rPr>
              <a:t>database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3474720"/>
            <a:ext cx="10637215" cy="41148"/>
          </a:xfrm>
          <a:prstGeom prst="rect">
            <a:avLst/>
          </a:prstGeom>
          <a:solidFill>
            <a:srgbClr val="D3D3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3630168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708090"/>
                </a:solidFill>
                <a:latin typeface="DejaVu Sans"/>
              </a:rPr>
              <a:t>no path back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4389120"/>
            <a:ext cx="1063721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36454F"/>
                </a:solidFill>
                <a:latin typeface="DejaVu Sans"/>
              </a:rPr>
              <a:t>A hand-made ALTER never flows back into the repo.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708090"/>
                </a:solidFill>
                <a:latin typeface="DejaVu Sans"/>
              </a:rPr>
              <a:t>That asymmetry is precisely why drift detection has to exist.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36454F"/>
                </a:solidFill>
                <a:latin typeface="DejaVu Sans"/>
              </a:rPr>
              <a:t>Three questions. Git answers two.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81328"/>
            <a:ext cx="1371600" cy="3810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40279"/>
            <a:ext cx="10637215" cy="914400"/>
          </a:xfrm>
          <a:prstGeom prst="rect">
            <a:avLst/>
          </a:prstGeom>
          <a:solidFill>
            <a:srgbClr val="F5F6F8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496311"/>
            <a:ext cx="64309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36454F"/>
                </a:solidFill>
                <a:latin typeface="DejaVu Sans"/>
              </a:rPr>
              <a:t>What changed in the definition?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31175" y="2496311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708090"/>
                </a:solidFill>
                <a:latin typeface="DejaVu Sans Mono"/>
              </a:rPr>
              <a:t>git diff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3300983"/>
            <a:ext cx="10637215" cy="914400"/>
          </a:xfrm>
          <a:prstGeom prst="rect">
            <a:avLst/>
          </a:prstGeom>
          <a:solidFill>
            <a:srgbClr val="F5F6F8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557015"/>
            <a:ext cx="64309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36454F"/>
                </a:solidFill>
                <a:latin typeface="DejaVu Sans"/>
              </a:rPr>
              <a:t>What will change in the database?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1175" y="3557015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708090"/>
                </a:solidFill>
                <a:latin typeface="DejaVu Sans Mono"/>
              </a:rPr>
              <a:t>DCM PLAN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4361688"/>
            <a:ext cx="10637215" cy="91440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617720"/>
            <a:ext cx="64309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DejaVu Sans"/>
              </a:rPr>
              <a:t>What changed without going through either?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31175" y="461772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D3D3D3"/>
                </a:solidFill>
                <a:latin typeface="DejaVu Sans Mono"/>
              </a:rPr>
              <a:t>drift 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669279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36454F"/>
                </a:solidFill>
                <a:latin typeface="DejaVu Sans"/>
              </a:rPr>
              <a:t>The third is the one we have never been able to see.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36454F"/>
                </a:solidFill>
                <a:latin typeface="DejaVu Sans"/>
              </a:rPr>
              <a:t>Three verdicts. Two states would be wrong most of the time.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81328"/>
            <a:ext cx="1371600" cy="3810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148840"/>
            <a:ext cx="3393338" cy="2514600"/>
          </a:xfrm>
          <a:prstGeom prst="rect">
            <a:avLst/>
          </a:prstGeom>
          <a:solidFill>
            <a:srgbClr val="D3D3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2423160"/>
            <a:ext cx="2844698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36454F"/>
                </a:solidFill>
                <a:latin typeface="DejaVu Sans"/>
              </a:rPr>
              <a:t>CLEAN</a:t>
            </a:r>
          </a:p>
          <a:p>
            <a:pPr>
              <a:spcBef>
                <a:spcPts val="0"/>
              </a:spcBef>
              <a:spcAft>
                <a:spcPts val="16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changeset empty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36454F"/>
                </a:solidFill>
                <a:latin typeface="DejaVu Sans"/>
              </a:rPr>
              <a:t>Database matches the repo.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36454F"/>
                </a:solidFill>
                <a:latin typeface="DejaVu Sans"/>
              </a:rPr>
              <a:t>Logged. No alert sent.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399178" y="2148840"/>
            <a:ext cx="3393338" cy="2514600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73498" y="2423160"/>
            <a:ext cx="2844698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DejaVu Sans"/>
              </a:rPr>
              <a:t>DRIFT</a:t>
            </a:r>
          </a:p>
          <a:p>
            <a:pPr>
              <a:spcBef>
                <a:spcPts val="0"/>
              </a:spcBef>
              <a:spcAft>
                <a:spcPts val="1600"/>
              </a:spcAft>
            </a:pPr>
            <a:r>
              <a:rPr sz="1200" b="0">
                <a:solidFill>
                  <a:srgbClr val="FFFFFF"/>
                </a:solidFill>
                <a:latin typeface="DejaVu Sans Mono"/>
              </a:rPr>
              <a:t>changeset non-empty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FFFFFF"/>
                </a:solidFill>
                <a:latin typeface="DejaVu Sans"/>
              </a:rPr>
              <a:t>Someone changed something.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FFFFFF"/>
                </a:solidFill>
                <a:latin typeface="DejaVu Sans"/>
              </a:rPr>
              <a:t>Revertible. Alert names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FFFFFF"/>
                </a:solidFill>
                <a:latin typeface="DejaVu Sans"/>
              </a:rPr>
              <a:t>the column and datatype.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021116" y="2148840"/>
            <a:ext cx="3393338" cy="251460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95436" y="2423160"/>
            <a:ext cx="2844698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DejaVu Sans"/>
              </a:rPr>
              <a:t>ERROR</a:t>
            </a:r>
          </a:p>
          <a:p>
            <a:pPr>
              <a:spcBef>
                <a:spcPts val="0"/>
              </a:spcBef>
              <a:spcAft>
                <a:spcPts val="1600"/>
              </a:spcAft>
            </a:pPr>
            <a:r>
              <a:rPr sz="1200" b="0">
                <a:solidFill>
                  <a:srgbClr val="FFFFFF"/>
                </a:solidFill>
                <a:latin typeface="DejaVu Sans Mono"/>
              </a:rPr>
              <a:t>plan failed to compile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FFFFFF"/>
                </a:solidFill>
                <a:latin typeface="DejaVu Sans"/>
              </a:rPr>
              <a:t>Drift exists, CANNOT be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FFFFFF"/>
                </a:solidFill>
                <a:latin typeface="DejaVu Sans"/>
              </a:rPr>
              <a:t>auto-reverted, and is hiding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FFFFFF"/>
                </a:solidFill>
                <a:latin typeface="DejaVu Sans"/>
              </a:rPr>
              <a:t>whatever sits behind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4937760"/>
            <a:ext cx="10637215" cy="566928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1" y="5074920"/>
            <a:ext cx="10125151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DejaVu Sans"/>
              </a:rPr>
              <a:t>45 of our 53 columns are not the last column in their table — so ERROR is the common case.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36454F"/>
                </a:solidFill>
                <a:latin typeface="DejaVu Sans"/>
              </a:rPr>
              <a:t>It names the column, not just the table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81328"/>
            <a:ext cx="1371600" cy="3810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194560"/>
            <a:ext cx="10637215" cy="1170432"/>
          </a:xfrm>
          <a:prstGeom prst="rect">
            <a:avLst/>
          </a:prstGeom>
          <a:solidFill>
            <a:srgbClr val="F2F4F6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8408" y="2331720"/>
            <a:ext cx="10271455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36454F"/>
                </a:solidFill>
                <a:latin typeface="DejaVu Sans Mono"/>
              </a:rPr>
              <a:t>ALTER TABLE "DEVELOP"."PRE"."DIM_PBI_CAPACITIES"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36454F"/>
                </a:solidFill>
                <a:latin typeface="DejaVu Sans Mono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36454F"/>
                </a:solidFill>
                <a:latin typeface="DejaVu Sans Mono"/>
              </a:rPr>
              <a:t>  columns:  removed  "HAND_ADDED_BY_A_HUMAN"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36454F"/>
                </a:solidFill>
                <a:latin typeface="DejaVu Sans Mono"/>
              </a:rPr>
              <a:t>                     VARCHAR(100), nullable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922776"/>
            <a:ext cx="82296" cy="82296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3822191"/>
            <a:ext cx="1031717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36454F"/>
                </a:solidFill>
                <a:latin typeface="DejaVu Sans"/>
              </a:rPr>
              <a:t>Column name, datatype, and which direction the fix runs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425696"/>
            <a:ext cx="82296" cy="82296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4325112"/>
            <a:ext cx="1031717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36454F"/>
                </a:solidFill>
                <a:latin typeface="DejaVu Sans"/>
              </a:rPr>
              <a:t>The difference between an alert worth waking for and one people mute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928616"/>
            <a:ext cx="82296" cy="82296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828031"/>
            <a:ext cx="1031717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36454F"/>
                </a:solidFill>
                <a:latin typeface="DejaVu Sans"/>
              </a:rPr>
              <a:t>Views report more still — the before-and-after SELECT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36454F"/>
                </a:solidFill>
                <a:latin typeface="DejaVu Sans"/>
              </a:rPr>
              <a:t>The drift check is the one thing Snowflake forgets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81328"/>
            <a:ext cx="1371600" cy="3810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708090"/>
                </a:solidFill>
                <a:latin typeface="DejaVu Sans"/>
              </a:rPr>
              <a:t>Measured after a full test run — 7+ plans, 4 deploys: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514600"/>
            <a:ext cx="10637215" cy="1170432"/>
          </a:xfrm>
          <a:prstGeom prst="rect">
            <a:avLst/>
          </a:prstGeom>
          <a:solidFill>
            <a:srgbClr val="F2F4F6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8" y="2651760"/>
            <a:ext cx="10271455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36454F"/>
                </a:solidFill>
                <a:latin typeface="DejaVu Sans Mono"/>
              </a:rPr>
              <a:t>SELECT PHASE, COUNT(*) FROM DCM_DEPLOYMENT_HISTORY(...)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36454F"/>
                </a:solidFill>
                <a:latin typeface="DejaVu Sans Mono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36454F"/>
                </a:solidFill>
                <a:latin typeface="DejaVu Sans Mono"/>
              </a:rPr>
              <a:t>   PHASE     N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36454F"/>
                </a:solidFill>
                <a:latin typeface="DejaVu Sans Mono"/>
              </a:rPr>
              <a:t>   DEPLOY    4        &lt;-- no PLAN rows. none.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4197096"/>
            <a:ext cx="82296" cy="82296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096512"/>
            <a:ext cx="103171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454F"/>
                </a:solidFill>
                <a:latin typeface="DejaVu Sans"/>
              </a:rPr>
              <a:t>Deployments: full immutable artifacts, 12-month retention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4654296"/>
            <a:ext cx="82296" cy="82296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4553712"/>
            <a:ext cx="103171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454F"/>
                </a:solidFill>
                <a:latin typeface="DejaVu Sans"/>
              </a:rPr>
              <a:t>Plans: not recorded at all, and no ACCOUNT_USAGE view exists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5285232"/>
            <a:ext cx="10637215" cy="566928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1" y="5422392"/>
            <a:ext cx="10125151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DejaVu Sans"/>
              </a:rPr>
              <a:t>So we keep our own log. It answers: when did this drift start?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36454F"/>
                </a:solidFill>
                <a:latin typeface="DejaVu Sans"/>
              </a:rPr>
              <a:t>Twelve findings. Four came from deliberate sabotage.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81328"/>
            <a:ext cx="1371600" cy="3810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148840"/>
            <a:ext cx="10637215" cy="566928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23544" y="2240280"/>
            <a:ext cx="960120" cy="4206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DejaVu Sans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12264" y="2240280"/>
            <a:ext cx="9219895" cy="4206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DejaVu Sans"/>
              </a:rPr>
              <a:t>Finding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807208"/>
            <a:ext cx="960120" cy="4206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6454F"/>
                </a:solidFill>
                <a:latin typeface="DejaVu Sans"/>
              </a:rPr>
              <a:t>F5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12264" y="2807208"/>
            <a:ext cx="9219895" cy="4206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6454F"/>
                </a:solidFill>
                <a:latin typeface="DejaVu Sans"/>
              </a:rPr>
              <a:t>Drift is detected and reported at column level — the verdict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271723"/>
            <a:ext cx="10637215" cy="10972"/>
          </a:xfrm>
          <a:prstGeom prst="rect">
            <a:avLst/>
          </a:prstGeom>
          <a:solidFill>
            <a:srgbClr val="D3D3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3282696"/>
            <a:ext cx="10637215" cy="566928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3374136"/>
            <a:ext cx="960120" cy="4206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6454F"/>
                </a:solidFill>
                <a:latin typeface="DejaVu Sans"/>
              </a:rPr>
              <a:t>F6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12264" y="3374136"/>
            <a:ext cx="9219895" cy="4206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6454F"/>
                </a:solidFill>
                <a:latin typeface="DejaVu Sans"/>
              </a:rPr>
              <a:t>DCM records DEPLOY, never PLAN — an audit table is mandatory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838651"/>
            <a:ext cx="10637215" cy="10972"/>
          </a:xfrm>
          <a:prstGeom prst="rect">
            <a:avLst/>
          </a:prstGeom>
          <a:solidFill>
            <a:srgbClr val="D3D3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3941063"/>
            <a:ext cx="960120" cy="4206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6454F"/>
                </a:solidFill>
                <a:latin typeface="DejaVu Sans"/>
              </a:rPr>
              <a:t>F7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12264" y="3941063"/>
            <a:ext cx="9219895" cy="4206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6454F"/>
                </a:solidFill>
                <a:latin typeface="DejaVu Sans"/>
              </a:rPr>
              <a:t>Dropping a column that is not last is un-revertible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405579"/>
            <a:ext cx="10637215" cy="10972"/>
          </a:xfrm>
          <a:prstGeom prst="rect">
            <a:avLst/>
          </a:prstGeom>
          <a:solidFill>
            <a:srgbClr val="D3D3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416552"/>
            <a:ext cx="10637215" cy="566928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" y="4507992"/>
            <a:ext cx="960120" cy="4206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6454F"/>
                </a:solidFill>
                <a:latin typeface="DejaVu Sans"/>
              </a:rPr>
              <a:t>F9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12264" y="4507992"/>
            <a:ext cx="9219895" cy="4206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6454F"/>
                </a:solidFill>
                <a:latin typeface="DejaVu Sans"/>
              </a:rPr>
              <a:t>Our own monitor sat suspended while its health view said 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972507"/>
            <a:ext cx="10637215" cy="10972"/>
          </a:xfrm>
          <a:prstGeom prst="rect">
            <a:avLst/>
          </a:prstGeom>
          <a:solidFill>
            <a:srgbClr val="D3D3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544" y="5074920"/>
            <a:ext cx="960120" cy="4206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6454F"/>
                </a:solidFill>
                <a:latin typeface="DejaVu Sans"/>
              </a:rPr>
              <a:t>F11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12264" y="5074920"/>
            <a:ext cx="9219895" cy="4206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6454F"/>
                </a:solidFill>
                <a:latin typeface="DejaVu Sans"/>
              </a:rPr>
              <a:t>Has now run unattended two consecutive nights, ~30s per run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5539435"/>
            <a:ext cx="10637215" cy="10972"/>
          </a:xfrm>
          <a:prstGeom prst="rect">
            <a:avLst/>
          </a:prstGeom>
          <a:solidFill>
            <a:srgbClr val="D3D3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6007608"/>
            <a:ext cx="10637215" cy="566928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1" y="6144768"/>
            <a:ext cx="10125151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DejaVu Sans"/>
              </a:rPr>
              <a:t>Every failure we found was something reporting success without checking what it claimed to check.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36454F"/>
                </a:solidFill>
                <a:latin typeface="DejaVu Sans"/>
              </a:rPr>
              <a:t>What we will demo</a:t>
            </a:r>
          </a:p>
          <a:p>
            <a:pPr>
              <a:spcBef>
                <a:spcPts val="800"/>
              </a:spcBef>
              <a:spcAft>
                <a:spcPts val="600"/>
              </a:spcAft>
            </a:pPr>
            <a:r>
              <a:rPr sz="1500" b="0">
                <a:solidFill>
                  <a:srgbClr val="708090"/>
                </a:solidFill>
                <a:latin typeface="DejaVu Sans"/>
              </a:rPr>
              <a:t>Live, end to end, about 20 minutes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783080"/>
            <a:ext cx="1371600" cy="3810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331720"/>
            <a:ext cx="5486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708090"/>
                </a:solidFill>
                <a:latin typeface="DejaVu Sans Mono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2331720"/>
            <a:ext cx="963137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454F"/>
                </a:solidFill>
                <a:latin typeface="DejaVu Sans"/>
              </a:rPr>
              <a:t>CREATE TABLE IF NOT EXISTS succeeding against a table it never looked 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880360"/>
            <a:ext cx="5486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708090"/>
                </a:solidFill>
                <a:latin typeface="DejaVu Sans Mono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880360"/>
            <a:ext cx="963137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454F"/>
                </a:solidFill>
                <a:latin typeface="DejaVu Sans"/>
              </a:rPr>
              <a:t>Build a project from nothing — scaffold, definitions, plan, deploy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429000"/>
            <a:ext cx="5486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708090"/>
                </a:solidFill>
                <a:latin typeface="DejaVu Sans Mono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3429000"/>
            <a:ext cx="963137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454F"/>
                </a:solidFill>
                <a:latin typeface="DejaVu Sans"/>
              </a:rPr>
              <a:t>Push to git — the repo fills 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977639"/>
            <a:ext cx="5486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708090"/>
                </a:solidFill>
                <a:latin typeface="DejaVu Sans Mon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977639"/>
            <a:ext cx="963137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454F"/>
                </a:solidFill>
                <a:latin typeface="DejaVu Sans"/>
              </a:rPr>
              <a:t>Snowflake pulls its own copy; the plan agrees from both directions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526280"/>
            <a:ext cx="5486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708090"/>
                </a:solidFill>
                <a:latin typeface="DejaVu Sans Mono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4526280"/>
            <a:ext cx="963137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454F"/>
                </a:solidFill>
                <a:latin typeface="DejaVu Sans"/>
              </a:rPr>
              <a:t>Add a table, push, fetch, deploy — a change travelling through git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5001768"/>
            <a:ext cx="10637215" cy="512064"/>
          </a:xfrm>
          <a:prstGeom prst="rect">
            <a:avLst/>
          </a:prstGeom>
          <a:solidFill>
            <a:srgbClr val="F5F6F8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074920"/>
            <a:ext cx="5486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708090"/>
                </a:solidFill>
                <a:latin typeface="DejaVu Sans Mono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5074920"/>
            <a:ext cx="963137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36454F"/>
                </a:solidFill>
                <a:latin typeface="DejaVu Sans"/>
              </a:rPr>
              <a:t>Tamper with the database by hand — GitHub shows nothing, the check names 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623560"/>
            <a:ext cx="5486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708090"/>
                </a:solidFill>
                <a:latin typeface="DejaVu Sans Mono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5623560"/>
            <a:ext cx="963137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454F"/>
                </a:solidFill>
                <a:latin typeface="DejaVu Sans"/>
              </a:rPr>
              <a:t>The un-revertible case, and why it changes the design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36454F"/>
                </a:solidFill>
                <a:latin typeface="DejaVu Sans"/>
              </a:rPr>
              <a:t>What this does not yet prove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81328"/>
            <a:ext cx="1371600" cy="3810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1965960"/>
            <a:ext cx="5090007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5090007" cy="457200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3271" y="2066543"/>
            <a:ext cx="4632807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DejaVu Sans"/>
              </a:rPr>
              <a:t>LIMITS</a:t>
            </a:r>
          </a:p>
        </p:txBody>
      </p:sp>
      <p:sp>
        <p:nvSpPr>
          <p:cNvPr id="7" name="Rectangle 6"/>
          <p:cNvSpPr/>
          <p:nvPr/>
        </p:nvSpPr>
        <p:spPr>
          <a:xfrm>
            <a:off x="1069848" y="2761488"/>
            <a:ext cx="64008" cy="64008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2660904"/>
            <a:ext cx="431276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One slice: 8 tables, 53 columns, no data</a:t>
            </a:r>
          </a:p>
        </p:txBody>
      </p:sp>
      <p:sp>
        <p:nvSpPr>
          <p:cNvPr id="9" name="Rectangle 8"/>
          <p:cNvSpPr/>
          <p:nvPr/>
        </p:nvSpPr>
        <p:spPr>
          <a:xfrm>
            <a:off x="1069848" y="3218688"/>
            <a:ext cx="64008" cy="64008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3118104"/>
            <a:ext cx="431276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Untested at 64 tables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69848" y="3675887"/>
            <a:ext cx="64008" cy="64008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3575304"/>
            <a:ext cx="431276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DCM Projects is a preview feature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69848" y="4133087"/>
            <a:ext cx="64008" cy="64008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80160" y="4032504"/>
            <a:ext cx="431276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Grants, tasks and streams unproven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69848" y="4590288"/>
            <a:ext cx="64008" cy="64008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4489704"/>
            <a:ext cx="431276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ERROR recovery rehearsed only on empty tables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4447" y="1965960"/>
            <a:ext cx="5090007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24447" y="1965960"/>
            <a:ext cx="5090007" cy="45720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0479" y="2066543"/>
            <a:ext cx="4632807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DejaVu Sans"/>
              </a:rPr>
              <a:t>NEXT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17055" y="2761488"/>
            <a:ext cx="64008" cy="64008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27367" y="2660904"/>
            <a:ext cx="431276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Widen to a second slice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17055" y="3218688"/>
            <a:ext cx="64008" cy="64008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27367" y="3118104"/>
            <a:ext cx="431276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Rehearse recovery on a table holding data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17055" y="3675887"/>
            <a:ext cx="64008" cy="64008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27367" y="3575304"/>
            <a:ext cx="431276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Scheduled PLAN first — it is read-only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17055" y="4133087"/>
            <a:ext cx="64008" cy="64008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27367" y="4032504"/>
            <a:ext cx="431276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DEPLOY stays a human decision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17055" y="4590288"/>
            <a:ext cx="64008" cy="64008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27367" y="4489704"/>
            <a:ext cx="431276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Revisit when the feature reaches GA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" y="5394960"/>
            <a:ext cx="10637215" cy="566928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3271" y="5532120"/>
            <a:ext cx="10125151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DejaVu Sans"/>
              </a:rPr>
              <a:t>The database can now tell us every morning whether it still matches the repo — and name the column when it does not.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
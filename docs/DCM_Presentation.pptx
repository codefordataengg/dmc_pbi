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9"/>
  </p:normalViewPr>
  <p:slideViewPr>
    <p:cSldViewPr snapToGrid="0" snapToObjects="1">
      <p:cViewPr varScale="1">
        <p:scale>
          <a:sx n="149" d="100"/>
          <a:sy n="149" d="100"/>
        </p:scale>
        <p:origin x="192" y="2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4A58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9C4CC"/>
                </a:solidFill>
                <a:latin typeface="DejaVu Sans Mono"/>
              </a:rPr>
              <a:t>SNOWFLAKE DCM ·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E3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The database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couldn't see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685800" cy="3657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Our repo could always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build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 the database.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It could never prove the database still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matched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53212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3B173"/>
                </a:solidFill>
                <a:latin typeface="DejaVu Sans Mono"/>
              </a:rPr>
              <a:t>8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tables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53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columns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13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findings   ·   personal account · 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C8B95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C4CED5"/>
                </a:solidFill>
                <a:latin typeface="DejaVu Sans Mono"/>
              </a:rPr>
              <a:t>01</a:t>
            </a:r>
            <a:r>
              <a:rPr sz="950" b="0">
                <a:solidFill>
                  <a:srgbClr val="7C8B95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Our pipelines cannot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see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 the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7145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313A"/>
                </a:solidFill>
                <a:latin typeface="DejaVu Sans"/>
              </a:rPr>
              <a:t>70 </a:t>
            </a:r>
            <a:r>
              <a:rPr sz="1350" b="0">
                <a:solidFill>
                  <a:srgbClr val="36454F"/>
                </a:solidFill>
                <a:latin typeface="DejaVu Sans Mono"/>
              </a:rPr>
              <a:t>CREATE TABLE IF NOT EXISTS</a:t>
            </a:r>
            <a:r>
              <a:rPr sz="1500" b="0">
                <a:solidFill>
                  <a:srgbClr val="6C7B88"/>
                </a:solidFill>
                <a:latin typeface="DejaVu Sans"/>
              </a:rPr>
              <a:t> statements across 8 pipeline files. Against a table that already exists, that statement does nothing — and cannot look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61288" y="3392424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1 · created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61288" y="3849624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4105656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4568" y="3392424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2 · altered by hand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4568" y="3849624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4105656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36168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VARCHAR(100)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8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27848" y="3392424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3 · re-run DDL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784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27848" y="3849624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"already exists,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4105656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 statement succeeded"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436168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still there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40480" y="4091939"/>
            <a:ext cx="502920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23759" y="4091939"/>
            <a:ext cx="50292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20" y="516636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is honest — it says it did nothing. The defect is that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“did nothing” counts as success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nothing compares the table to the declaration. It stays invisible because it is harmless.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TWO GUARANTEES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“repo” = the Matillion pipeline repo that holds the 70 DDL statements.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834640"/>
            <a:ext cx="10058400" cy="50292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953512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43800" y="2953512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953512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WITH DCM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893515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repo can build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483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83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904488"/>
            <a:ext cx="10058400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60120" y="4460443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4050792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database still matches the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5079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C3B2E"/>
                </a:solidFill>
                <a:latin typeface="DejaVu Sans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05079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1027145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Two guarantees — only the first was ever true, and nothing could tell you the difference. Why we went looking: a dashboard dimension sat frozen for </a:t>
            </a:r>
            <a:r>
              <a:rPr sz="1350" b="1">
                <a:solidFill>
                  <a:srgbClr val="25313A"/>
                </a:solidFill>
                <a:latin typeface="DejaVu Sans"/>
              </a:rPr>
              <a:t>seven months</a:t>
            </a:r>
            <a:r>
              <a:rPr sz="1350" b="0">
                <a:solidFill>
                  <a:srgbClr val="6C7B88"/>
                </a:solidFill>
                <a:latin typeface="DejaVu Sans"/>
              </a:rPr>
              <a:t>. A different defect — a trailing comma an alert-then-succeed pattern hid — but the </a:t>
            </a:r>
            <a:r>
              <a:rPr sz="1350" b="1">
                <a:solidFill>
                  <a:srgbClr val="B26B12"/>
                </a:solidFill>
                <a:latin typeface="DejaVu Sans"/>
              </a:rPr>
              <a:t>same shape</a:t>
            </a:r>
            <a:r>
              <a:rPr sz="1350" b="0">
                <a:solidFill>
                  <a:srgbClr val="6C7B88"/>
                </a:solidFill>
                <a:latin typeface="DejaVu Sans"/>
              </a:rPr>
              <a:t>: something that looked like a check and never checked.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TWO GUARANTEES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DCM PROJECTS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Declare the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Snowflake finds the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difference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00400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26440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description of what should be true — not an instruction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767328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8587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831336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dry run. changes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334256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442569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398264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applies the changeset. a person's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5303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8B3"/>
                </a:solidFill>
                <a:latin typeface="DejaVu Sans"/>
              </a:rPr>
              <a:t>Native to Snowflake · no external state file · GA since Aug 2026 · broad object coverage — </a:t>
            </a:r>
            <a:r>
              <a:rPr sz="1100" b="0">
                <a:solidFill>
                  <a:srgbClr val="9AA8B3"/>
                </a:solidFill>
                <a:latin typeface="DejaVu Sans Mono"/>
              </a:rPr>
              <a:t>TABLE · VIEW · TASK · ROLE</a:t>
            </a:r>
            <a:r>
              <a:rPr sz="1200" b="0">
                <a:solidFill>
                  <a:srgbClr val="9AA8B3"/>
                </a:solidFill>
                <a:latin typeface="DejaVu Sans"/>
              </a:rPr>
              <a:t> and more.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063240"/>
            <a:ext cx="4510735" cy="27683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720840" y="3063240"/>
            <a:ext cx="41148" cy="27683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3209544"/>
            <a:ext cx="4099255" cy="2494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DEFINE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DEVELOP.PRE.DIM_PBI_CAPACITIES (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ID              VARCHAR(36)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NOT NULL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NAME            VARCHAR(500),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SKU             VARCHAR(50),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IS_CURRENT_FLAG NUMBER(1,0)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DEFAULT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endParaRPr sz="1250" b="0">
              <a:solidFill>
                <a:srgbClr val="36454F"/>
              </a:solidFill>
              <a:latin typeface="DejaVu Sans Mono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-- remove this block, and the next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-- deploy drops the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WHAT DCM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584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AA8B3"/>
                </a:solidFill>
                <a:latin typeface="DejaVu Sans Mono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41985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27048" y="3337560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embedded in orchestration — 70 statements, 8 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803904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27048" y="3721608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418795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27048" y="4105656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 review · no 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57200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27048" y="4489704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C3B2E"/>
                </a:solidFill>
                <a:latin typeface="DejaVu Sans"/>
              </a:rPr>
              <a:t>drift is invisible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24447" y="2560320"/>
            <a:ext cx="4907127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98767" y="2788920"/>
            <a:ext cx="43584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26B12"/>
                </a:solidFill>
                <a:latin typeface="DejaVu Sans Mono"/>
              </a:rPr>
              <a:t>AFTER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341985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91375" y="3337560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in git, reviewed like application code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8767" y="380390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91375" y="3721608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plan shows impact before it lands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8767" y="4187952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91375" y="4105656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98767" y="4572000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91375" y="4489704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6650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257800"/>
            <a:ext cx="102714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becomes a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build output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— not a place things quietly accumulate.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layout is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fixed</a:t>
            </a:r>
            <a:r>
              <a:rPr sz="3300" b="1">
                <a:solidFill>
                  <a:srgbClr val="25313A"/>
                </a:solidFill>
                <a:latin typeface="DejaVu Sans"/>
              </a:rPr>
              <a:t>, not a convention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120640" cy="1707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1707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4709159" cy="143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manifest.yml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which account · what varies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sources/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  definitions/</a:t>
            </a:r>
            <a:r>
              <a:rPr sz="1300" b="1">
                <a:solidFill>
                  <a:srgbClr val="B26B12"/>
                </a:solidFill>
                <a:latin typeface="DejaVu Sans Mono"/>
              </a:rPr>
              <a:t>      every object lives here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  macros/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optional Jinja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out/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    generated artifacts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>sources/definitions/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required — files anywhere else are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not read</a:t>
            </a:r>
            <a:r>
              <a:rPr sz="1300" b="0">
                <a:solidFill>
                  <a:srgbClr val="6C7B88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6936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THE MANIFEST — WHERE, AND WHAT VARIES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2788920"/>
            <a:ext cx="4693615" cy="24444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37959" y="2788920"/>
            <a:ext cx="41148" cy="24444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59" y="2935224"/>
            <a:ext cx="4282135" cy="2170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project_name: …PBI_CAPACITIES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DEV: 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"_DEV"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PROD: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"_PROD"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5349240"/>
            <a:ext cx="469361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Promotion is pointing at a different target.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You copy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How it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468880"/>
            <a:ext cx="17373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610612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246888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37560" y="2610612"/>
            <a:ext cx="1965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account clone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46888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97880" y="2610612"/>
            <a:ext cx="1828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history · artifacts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2468880"/>
            <a:ext cx="228600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2610612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PROD database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…_PROD · from git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97480" y="2898648"/>
            <a:ext cx="6217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51760" y="252374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03520" y="2898648"/>
            <a:ext cx="5760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726680" y="2761488"/>
            <a:ext cx="66751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38644" y="22402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 dirty="0">
                <a:solidFill>
                  <a:srgbClr val="6C7B88"/>
                </a:solidFill>
                <a:latin typeface="DejaVu Sans Mono"/>
              </a:rPr>
              <a:t>DEPLOY · from git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26680" y="3054096"/>
            <a:ext cx="667512" cy="0"/>
          </a:xfrm>
          <a:prstGeom prst="bentConnector3">
            <a:avLst/>
          </a:prstGeom>
          <a:ln w="17780"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55080" y="312724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B26B12"/>
                </a:solidFill>
                <a:latin typeface="DejaVu Sans Mono"/>
              </a:rPr>
              <a:t>PLAN · reads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97880" y="4343400"/>
            <a:ext cx="1828800" cy="82296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97880" y="4462272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Nightly task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05:00 · PLAN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4343400"/>
            <a:ext cx="1554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01000" y="4462272"/>
            <a:ext cx="1554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Drift log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durable record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4343400"/>
            <a:ext cx="12801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784080" y="4462272"/>
            <a:ext cx="1280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DejaVu Sans Mono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if not CLEAN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12280" y="3337560"/>
            <a:ext cx="0" cy="98755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68503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FETCH → PLAN vs git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26680" y="4754880"/>
            <a:ext cx="25603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555480" y="4754880"/>
            <a:ext cx="21031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60120" y="544068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Dev deploys from the workspace (next slide);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prod is deployed from git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the nightly check watches prod. PLAN is automated; DEPLOY is a human decision — it drops columns to revert.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DISTINCTION PEOPLE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74519" y="2587752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4302252"/>
            <a:ext cx="21945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read by the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11880" y="4302252"/>
            <a:ext cx="21945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26B12"/>
                </a:solidFill>
                <a:latin typeface="DejaVu Sans Mono"/>
              </a:rPr>
              <a:t>invisible to automation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74519" y="3291840"/>
            <a:ext cx="640081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36118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3291840"/>
            <a:ext cx="822960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6118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578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8B3"/>
                </a:solidFill>
                <a:latin typeface="DejaVu Sans Mono"/>
              </a:rPr>
              <a:t>siblings — not parent &amp; 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copies.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0175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All can be </a:t>
            </a:r>
            <a:r>
              <a:rPr sz="3000" b="1">
                <a:solidFill>
                  <a:srgbClr val="B26B12"/>
                </a:solidFill>
                <a:latin typeface="DejaVu Sans"/>
              </a:rPr>
              <a:t>stale</a:t>
            </a:r>
            <a:r>
              <a:rPr sz="30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96849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39128" y="3886200"/>
            <a:ext cx="4492447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62686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39128" y="4544568"/>
            <a:ext cx="4492447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workspace lives in your personal database; a scheduled task cannot read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5285231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39128" y="5202936"/>
            <a:ext cx="4492447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313A"/>
                </a:solidFill>
                <a:latin typeface="DejaVu Sans"/>
              </a:rPr>
              <a:t>GitHub is authoritative. The other two are caches.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COPIES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WHY DRIFT DETECTION MUST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A change travels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one direction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04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8047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edit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0847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17307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73071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commit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4350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0809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08095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GitHub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8527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843119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43119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FETCH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13551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8143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8143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PLAN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48575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1316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13167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review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359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84819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48191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DEPLOY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862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18321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183215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database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093311" y="3767328"/>
            <a:ext cx="6675120" cy="0"/>
          </a:xfrm>
          <a:prstGeom prst="bentConnector3">
            <a:avLst/>
          </a:prstGeom>
          <a:ln w="17780"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45655" y="4069080"/>
            <a:ext cx="274320" cy="18288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8047" y="41605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26B12"/>
                </a:solidFill>
                <a:latin typeface="DejaVu Sans"/>
              </a:rPr>
              <a:t>✕  no path 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hand-made 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ALTER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never flows back into the repo. That asymmetry is exactly why the third question has to be asked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ONE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09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HOW A DEVELOPER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Dev fast.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Prod from git.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33756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3433572"/>
            <a:ext cx="2011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where I edit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2468880"/>
            <a:ext cx="2286000" cy="73152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2542032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DejaVu Sans Mono"/>
              </a:rPr>
              <a:t>DEMO_PBI_DEV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fast · no gate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416052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4233672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git · main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commit · PR ·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4160520"/>
            <a:ext cx="2743200" cy="73152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4233672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DEMO_PBI_PROD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reviewed · reproducible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971800" y="2880360"/>
            <a:ext cx="1627632" cy="64008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08960" y="30175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Deploy · DEV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3749039"/>
            <a:ext cx="1627632" cy="640081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00400" y="4114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03720" y="4526280"/>
            <a:ext cx="162763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12280" y="422452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DEPLOY USING CONFIGURATION 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Same files build both —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env_suffix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the only difference. Prod is deployed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from git, never the workspace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— so git and prod agree by construction, and the drift check stays honest.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PROMOTION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10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SPINE OF THE WHOLE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51760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283464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25496"/>
            <a:ext cx="61566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28455" y="2852928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28455" y="2926079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git diff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493008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675887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666744"/>
            <a:ext cx="61566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8455" y="3694176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28455" y="376732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DCM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334256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0120" y="4334256"/>
            <a:ext cx="10271455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80160" y="4517136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507992"/>
            <a:ext cx="61566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5313A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8455" y="4535424"/>
            <a:ext cx="1737360" cy="310896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28455" y="460857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drift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2714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third is the one we have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never been able to see.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DIFFS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11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DRIFT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74519" y="2624328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PLAN compiles?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3657600"/>
            <a:ext cx="1737360" cy="685800"/>
          </a:xfrm>
          <a:prstGeom prst="rect">
            <a:avLst/>
          </a:prstGeom>
          <a:solidFill>
            <a:srgbClr val="F3E2DE"/>
          </a:solidFill>
          <a:ln w="12700">
            <a:solidFill>
              <a:srgbClr val="8C3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840" y="3707891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C3B2E"/>
                </a:solidFill>
                <a:latin typeface="DejaVu Sans Mono"/>
              </a:rPr>
              <a:t>ERROR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un-revertible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3657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1640" y="381304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313A"/>
                </a:solidFill>
                <a:latin typeface="DejaVu Sans Mono"/>
              </a:rPr>
              <a:t>changeset empty?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892040"/>
            <a:ext cx="1737360" cy="685800"/>
          </a:xfrm>
          <a:prstGeom prst="rect">
            <a:avLst/>
          </a:prstGeom>
          <a:solidFill>
            <a:srgbClr val="E7EDE8"/>
          </a:solidFill>
          <a:ln w="12700">
            <a:solidFill>
              <a:srgbClr val="4B6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942331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B6650"/>
                </a:solidFill>
                <a:latin typeface="DejaVu Sans Mono"/>
              </a:rPr>
              <a:t>CLEAN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4B6650"/>
                </a:solidFill>
                <a:latin typeface="DejaVu Sans Mono"/>
              </a:rPr>
              <a:t>matches repo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39" y="4892040"/>
            <a:ext cx="1737360" cy="685800"/>
          </a:xfrm>
          <a:prstGeom prst="rect">
            <a:avLst/>
          </a:prstGeom>
          <a:solidFill>
            <a:srgbClr val="F6E9D6"/>
          </a:solidFill>
          <a:ln w="12700">
            <a:solidFill>
              <a:srgbClr val="B26B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63239" y="4942331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6B12"/>
                </a:solidFill>
                <a:latin typeface="DejaVu Sans Mono"/>
              </a:rPr>
              <a:t>DRIFT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names the column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9080" y="2743200"/>
            <a:ext cx="1005840" cy="8961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80560" y="3063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697480" y="3017520"/>
            <a:ext cx="91440" cy="62179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34639" y="32004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828800" y="4206240"/>
            <a:ext cx="3200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63040" y="44805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4B6650"/>
                </a:solidFill>
                <a:latin typeface="DejaVu Sans Mono"/>
              </a:rPr>
              <a:t>empty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54680" y="4206240"/>
            <a:ext cx="5486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4480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not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3774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verdicts,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632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86200"/>
            <a:ext cx="46021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two-state monitor — “changeset empty or not” — reads the worst case as a broken job.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4617720"/>
            <a:ext cx="460217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629400" y="4617720"/>
            <a:ext cx="41148" cy="128016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22008" y="4791456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B26B12"/>
                </a:solidFill>
                <a:latin typeface="DejaVu Sans Mono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82896"/>
            <a:ext cx="32305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9AA8B3"/>
                </a:solidFill>
                <a:latin typeface="DejaVu Sans"/>
              </a:rPr>
              <a:t>of 53</a:t>
            </a:r>
            <a:r>
              <a:rPr sz="1300" b="0">
                <a:solidFill>
                  <a:srgbClr val="36454F"/>
                </a:solidFill>
                <a:latin typeface="DejaVu Sans"/>
              </a:rPr>
              <a:t> columns are not the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last column in their 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486400"/>
            <a:ext cx="4236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C7B88"/>
                </a:solidFill>
                <a:latin typeface="DejaVu Sans"/>
              </a:rPr>
              <a:t>Restoring one mid-list is a reorder Snowflake can't do — ERROR is the common case.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VERDICTS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IT RETURNS · WHAT SNOWFLAKE FORGETS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700" b="1">
                <a:solidFill>
                  <a:srgbClr val="25313A"/>
                </a:solidFill>
                <a:latin typeface="DejaVu Sans"/>
              </a:rPr>
              <a:t>It names the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148840"/>
            <a:ext cx="5212080" cy="14030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60120" y="2148840"/>
            <a:ext cx="41148" cy="14030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295144"/>
            <a:ext cx="4800600" cy="1128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ALTER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…PRE.DIM_PBI_CAPACITIES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columns: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removed "HAND_ADDED_BY_A_HUMAN"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        VARCHAR(100), nullable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5212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Not “a table differs.” The name, the type, and which way the fix runs — the difference between an alert worth waking for and one people mute.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46936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MEASURED — 7+ PLANS, 4 DEPLOYS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1737360"/>
            <a:ext cx="4693615" cy="16761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37959" y="1737360"/>
            <a:ext cx="41148" cy="16761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59" y="1883664"/>
            <a:ext cx="4282135" cy="1401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SELECT PHASE, COUNT(*)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FROM DCM_DEPLOYMENT_HISTORY(…)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endParaRPr sz="1250" b="0">
              <a:solidFill>
                <a:srgbClr val="36454F"/>
              </a:solidFill>
              <a:latin typeface="DejaVu Sans Mono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  PHASE     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  DEPLOY    4</a:t>
            </a:r>
            <a:r>
              <a:rPr sz="1250" b="1">
                <a:solidFill>
                  <a:srgbClr val="B26B12"/>
                </a:solidFill>
                <a:latin typeface="DejaVu Sans Mono"/>
              </a:rPr>
              <a:t>   ← no PLAN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566160"/>
            <a:ext cx="469361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"/>
              </a:rPr>
              <a:t>The drift check is the one thing Snowflake doesn't record.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Deployments keep 12-month artifacts; plans keep nothing, with no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ACCOUNT_USAGE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view — so we keep our own log. It answers </a:t>
            </a:r>
            <a:r>
              <a:rPr sz="1300" b="1">
                <a:solidFill>
                  <a:srgbClr val="36454F"/>
                </a:solidFill>
                <a:latin typeface="DejaVu Sans"/>
              </a:rPr>
              <a:t>when did this drift start?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WE FOUND BY BREAKING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Thirteen findings. Four from deliberate sabotage.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081528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697479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697479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090672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60120" y="3611880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32278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27832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142232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375818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758184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151375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0120" y="4672583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28853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88536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Our own monitor sat suspended while its health view reported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202936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48188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818888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Every failure we found was something </a:t>
            </a:r>
            <a:r>
              <a:rPr sz="1700" b="1">
                <a:solidFill>
                  <a:srgbClr val="B26B12"/>
                </a:solidFill>
                <a:latin typeface="DejaVu Sans"/>
              </a:rPr>
              <a:t>reporting success without checking</a:t>
            </a:r>
            <a:r>
              <a:rPr sz="1700" b="0">
                <a:solidFill>
                  <a:srgbClr val="36454F"/>
                </a:solidFill>
                <a:latin typeface="DejaVu Sans"/>
              </a:rPr>
              <a:t> what it claimed to check.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LIVE · END TO END ·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What we'll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651760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401568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5137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51376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01183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901183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6517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2651760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3355848"/>
            <a:ext cx="4861407" cy="658368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61607" y="340156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26B12"/>
                </a:solidFill>
                <a:latin typeface="DejaVu Sans Mon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247" y="3401568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6454F"/>
                </a:solidFill>
                <a:latin typeface="DejaVu Sans"/>
              </a:rPr>
              <a:t>Tamper by hand — GitHub shows nothing, the drift check names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15137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4151376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un-revertible case, and why it changes the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743200"/>
            <a:ext cx="2468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839212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does it MATCH?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C7B88"/>
                </a:solidFill>
                <a:latin typeface="DejaVu Sans Mono"/>
              </a:rPr>
              <a:t>PLAN ·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468880" cy="77724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4393692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does the data PASS?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8A5210"/>
                </a:solidFill>
                <a:latin typeface="DejaVu Sans Mono"/>
              </a:rPr>
              <a:t>snow dcm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3520440"/>
            <a:ext cx="21945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2040" y="3662172"/>
            <a:ext cx="2194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the table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PRE.DIM_PBI_…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3127248"/>
            <a:ext cx="1444752" cy="5760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429000" y="4160520"/>
            <a:ext cx="1444752" cy="521208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11880" y="36118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this POC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22452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not yet 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4688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Gate the </a:t>
            </a:r>
            <a:r>
              <a:rPr sz="2800" b="1">
                <a:solidFill>
                  <a:srgbClr val="B26B12"/>
                </a:solidFill>
                <a:latin typeface="DejaVu Sans"/>
              </a:rPr>
              <a:t>data</a:t>
            </a:r>
            <a:r>
              <a:rPr sz="2800" b="1">
                <a:solidFill>
                  <a:srgbClr val="25313A"/>
                </a:solidFill>
                <a:latin typeface="DejaVu Sans"/>
              </a:rPr>
              <a:t>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31546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not just the 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4023360"/>
            <a:ext cx="368777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This POC proved the database matches the repo. The same declarative project can prove the data passes — quality checks declared beside the schema.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5257800"/>
            <a:ext cx="368777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ATTACH a data metric function with an EXPECTATION, then </a:t>
            </a:r>
            <a:r>
              <a:rPr sz="1150" b="0">
                <a:solidFill>
                  <a:srgbClr val="36454F"/>
                </a:solidFill>
                <a:latin typeface="DejaVu Sans Mono"/>
              </a:rPr>
              <a:t>snow dcm test</a:t>
            </a:r>
            <a:r>
              <a:rPr sz="1350" b="1">
                <a:solidFill>
                  <a:srgbClr val="25313A"/>
                </a:solidFill>
                <a:latin typeface="DejaVu Sans"/>
              </a:rPr>
              <a:t>. A GA capability we never used.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Quality gates, declared beside the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943600" cy="2342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2342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5532120" cy="206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-- in the same sources/definitions file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SNOWFLAKE.CORE.NULL_COUNT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no_null_ids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endParaRPr sz="1100" b="0">
              <a:solidFill>
                <a:srgbClr val="36454F"/>
              </a:solidFill>
              <a:latin typeface="DejaVu Sans Mono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SNOWFLAKE.CORE.DUPLICATE_COUNT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unique_ids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07492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The left side is always the keyword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VALUE</a:t>
            </a:r>
            <a:r>
              <a:rPr sz="1250" b="0">
                <a:solidFill>
                  <a:srgbClr val="6C7B88"/>
                </a:solidFill>
                <a:latin typeface="DejaVu Sans"/>
              </a:rPr>
              <a:t>. No subqueries, casts or arithmetic — a check, not a query.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391637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ONE COMMAND RUNS THEM 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788920"/>
            <a:ext cx="3916375" cy="1911095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0" y="2788920"/>
            <a:ext cx="41148" cy="1911095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43800" y="2935224"/>
            <a:ext cx="3504895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$ snow dcm test 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endParaRPr sz="1200" b="0">
              <a:solidFill>
                <a:srgbClr val="36454F"/>
              </a:solidFill>
              <a:latin typeface="DejaVu Sans Mono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4B6650"/>
                </a:solidFill>
                <a:latin typeface="DejaVu Sans Mono"/>
              </a:rPr>
              <a:t>  PASS  no_null_ids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B26B12"/>
                </a:solidFill>
                <a:latin typeface="DejaVu Sans Mono"/>
              </a:rPr>
              <a:t>  FAIL  unique_ids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C7B88"/>
                </a:solidFill>
                <a:latin typeface="DejaVu Sans Mono"/>
              </a:rPr>
              <a:t>     Expected VALUE = 0, got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C7B88"/>
                </a:solidFill>
                <a:latin typeface="DejaVu Sans Mono"/>
              </a:rPr>
              <a:t>  1 passed, 1 failed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800600"/>
            <a:ext cx="391637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A </a:t>
            </a:r>
            <a:r>
              <a:rPr sz="1250" b="1">
                <a:solidFill>
                  <a:srgbClr val="25313A"/>
                </a:solidFill>
                <a:latin typeface="DejaVu Sans"/>
              </a:rPr>
              <a:t>verified run</a:t>
            </a:r>
            <a:r>
              <a:rPr sz="1250" b="0">
                <a:solidFill>
                  <a:srgbClr val="6C7B88"/>
                </a:solidFill>
                <a:latin typeface="DejaVu Sans"/>
              </a:rPr>
              <a:t>, not a mock-up. Exits non-zero on failure, so it gates a pipeline. The same check sits on landing, staging and presentation — bad data caught where it enters, not three dashboards later.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yet prove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8269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2728" y="3200400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One slice —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758183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52728" y="3675887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Untested at full-estate scale (52 tables)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23367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52728" y="4151376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Data-quality gates (expectations) not yet used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70916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52728" y="4626864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Grants, tasks, streams not yet tested by 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184648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52728" y="5102352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017520"/>
            <a:ext cx="10972" cy="2560320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8040" y="3200400"/>
            <a:ext cx="4053535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can now tell us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every morning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whether it still matches the repo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name the column when it doesn't.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5212080"/>
            <a:ext cx="40535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8B3"/>
                </a:solidFill>
                <a:latin typeface="DejaVu Sans"/>
              </a:rPr>
              <a:t>Scheduled PLAN first — it's read-only. DEPLOY stays a human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1827</Words>
  <Application>Microsoft Macintosh PowerPoint</Application>
  <PresentationFormat>Widescreen</PresentationFormat>
  <Paragraphs>299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DejaVu Sans</vt:lpstr>
      <vt:lpstr>DejaVu Sans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Amit Bhopte</cp:lastModifiedBy>
  <cp:revision>2</cp:revision>
  <dcterms:created xsi:type="dcterms:W3CDTF">2013-01-27T09:14:16Z</dcterms:created>
  <dcterms:modified xsi:type="dcterms:W3CDTF">2026-08-26T12:06:00Z</dcterms:modified>
  <cp:category/>
</cp:coreProperties>
</file>